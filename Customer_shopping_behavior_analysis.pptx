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ssistant"/>
      <p:regular r:id="rId201314"/>
    </p:embeddedFont>
    <p:embeddedFont>
      <p:font typeface="Assistant SemiBold"/>
      <p:regular r:id="rId201315"/>
    </p:embeddedFont>
    <p:embeddedFont>
      <p:font typeface="Assistant Bold"/>
      <p:regular r:id="rId201316"/>
    </p:embeddedFont>
    <p:embeddedFont>
      <p:font typeface="Rubik SemiBold"/>
      <p:regular r:id="rId201317"/>
    </p:embeddedFont>
    <p:embeddedFont>
      <p:font typeface="Rubik Extra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end-to-end evaluation of 3,900 consumer purchase transactions, combining exploratory data analysis, relational feature design, and commercial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in order: project purpose, dataset, data preparation, SQL analysis, then the dashboard and recommendations. Close by noting that the findings support targeted marketing rather than generic discounting.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data layers: identity demographics, transaction details, and engagement signals. Emphasize how combining these three tiers enables multi-dimensional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core baseline metrics: middle-aged customer concentration (44.1 years), reliable ticket sizes ($59.76), solid baseline satisfaction (3.75), and the distinct male-heavy transaction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preparation methodology: how pandas was used for structural audits, category-specific median imputation for the 37 null ratings, and why promo code fields were discarded as exact duplicates of discount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transition from raw transactional flat files to engineered features: demographic cohorting, frequency conversion to numeric day metrics, and the migration to PostgreSQL for auditable SQL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while male revenue is more than double female revenue ($158K vs $75K), the average spend per purchase is essentially identical ($59.54 vs $60.25). The gap is volume, not ticket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839 customers who used discounts and still spent above the average purchase amount. Ask whether discounts create incremental demand or simply reduce margin on purchases that would have happened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ratings against volume: Gloves and Sandals lead in consumer sentiment, but Pants and Blouses drive total fulfillment load. Allocate marketing for advocacy versus inventory for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Synthesize category and cohort distributions: Clothing is the undisputed volume anchor ($104K revenue, 1,737 sales). Age group revenues are tightly clustered between $55K and $62K, proving broad appeal across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9FAF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68351" y="664527"/>
            <a:ext cx="7765856" cy="231080"/>
          </a:xfrm>
          <a:prstGeom prst="rect">
            <a:avLst/>
          </a:prstGeom>
          <a:noFill/>
          <a:ln/>
        </p:spPr>
        <p:txBody>
          <a:bodyPr wrap="none" lIns="0" tIns="0" rIns="0" bIns="0" rtlCol="0" anchor="t"/>
          <a:lstStyle/>
          <a:p>
            <a:pPr algn="l" indent="0" marL="0">
              <a:lnSpc>
                <a:spcPct val="117000"/>
              </a:lnSpc>
              <a:buNone/>
            </a:pPr>
            <a:r>
              <a:rPr lang="en-US" sz="1300" dirty="0">
                <a:solidFill>
                  <a:srgbClr val="FFFFFF"/>
                </a:solidFill>
                <a:latin typeface="Assistant SemiBold" pitchFamily="34" charset="0"/>
                <a:ea typeface="Assistant SemiBold" pitchFamily="34" charset="-122"/>
                <a:cs typeface="Assistant SemiBold" pitchFamily="34" charset="-120"/>
              </a:rPr>
              <a:t>BUSINESS ANALYTICS &amp; SEGMENTATION REPORT</a:t>
            </a:r>
            <a:endParaRPr lang="en-US" sz="1300" dirty="0"/>
          </a:p>
        </p:txBody>
      </p:sp>
      <p:sp>
        <p:nvSpPr>
          <p:cNvPr id="3" name="Text 1"/>
          <p:cNvSpPr/>
          <p:nvPr/>
        </p:nvSpPr>
        <p:spPr>
          <a:xfrm>
            <a:off x="968351" y="1298783"/>
            <a:ext cx="7765856" cy="1493441"/>
          </a:xfrm>
          <a:prstGeom prst="rect">
            <a:avLst/>
          </a:prstGeom>
          <a:noFill/>
          <a:ln/>
        </p:spPr>
        <p:txBody>
          <a:bodyPr wrap="square" lIns="0" tIns="0" rIns="0" bIns="0" rtlCol="0" anchor="t">
            <a:normAutofit/>
          </a:bodyPr>
          <a:lstStyle/>
          <a:p>
            <a:pPr algn="l" indent="0" marL="0">
              <a:lnSpc>
                <a:spcPct val="87000"/>
              </a:lnSpc>
              <a:buNone/>
            </a:pPr>
            <a:r>
              <a:rPr lang="en-US" sz="5600" dirty="0">
                <a:solidFill>
                  <a:srgbClr val="FFFFFF"/>
                </a:solidFill>
                <a:latin typeface="Rubik ExtraBold" pitchFamily="34" charset="0"/>
                <a:ea typeface="Rubik ExtraBold" pitchFamily="34" charset="-122"/>
                <a:cs typeface="Rubik ExtraBold" pitchFamily="34" charset="-120"/>
              </a:rPr>
              <a:t>Customer shopping behavior analysis</a:t>
            </a:r>
            <a:endParaRPr lang="en-US" sz="5600" dirty="0"/>
          </a:p>
        </p:txBody>
      </p:sp>
      <p:sp>
        <p:nvSpPr>
          <p:cNvPr id="4" name="Text 2"/>
          <p:cNvSpPr/>
          <p:nvPr/>
        </p:nvSpPr>
        <p:spPr>
          <a:xfrm>
            <a:off x="968351" y="2975173"/>
            <a:ext cx="7765856" cy="762000"/>
          </a:xfrm>
          <a:prstGeom prst="rect">
            <a:avLst/>
          </a:prstGeom>
          <a:noFill/>
          <a:ln/>
        </p:spPr>
        <p:txBody>
          <a:bodyPr wrap="square" lIns="0" tIns="0" rIns="0" bIns="0" rtlCol="0" anchor="t">
            <a:normAutofit/>
          </a:bodyPr>
          <a:lstStyle/>
          <a:p>
            <a:pPr algn="l" indent="0" marL="0">
              <a:lnSpc>
                <a:spcPct val="125000"/>
              </a:lnSpc>
              <a:buNone/>
            </a:pPr>
            <a:r>
              <a:rPr lang="en-US" sz="2000" dirty="0">
                <a:solidFill>
                  <a:srgbClr val="FFFFFF"/>
                </a:solidFill>
                <a:latin typeface="Assistant" pitchFamily="34" charset="0"/>
                <a:ea typeface="Assistant" pitchFamily="34" charset="-122"/>
                <a:cs typeface="Assistant" pitchFamily="34" charset="-120"/>
              </a:rPr>
              <a:t>This report evaluates 3,900 customer purchases to show who buys, what they buy, and how to turn one-time shoppers into repeat customers.</a:t>
            </a:r>
            <a:endParaRPr lang="en-US" sz="2000" dirty="0"/>
          </a:p>
        </p:txBody>
      </p:sp>
      <p:sp>
        <p:nvSpPr>
          <p:cNvPr id="5" name="Text 3"/>
          <p:cNvSpPr/>
          <p:nvPr/>
        </p:nvSpPr>
        <p:spPr>
          <a:xfrm>
            <a:off x="968351" y="3930848"/>
            <a:ext cx="7765856" cy="64770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FFFFFF"/>
                </a:solidFill>
                <a:latin typeface="Assistant" pitchFamily="34" charset="0"/>
                <a:ea typeface="Assistant" pitchFamily="34" charset="-122"/>
                <a:cs typeface="Assistant" pitchFamily="34" charset="-120"/>
              </a:rPr>
              <a:t>You will learn where revenue comes from, which customer groups matter most, and which actions to take next.</a:t>
            </a:r>
            <a:endParaRPr lang="en-US" sz="1700" dirty="0"/>
          </a:p>
        </p:txBody>
      </p:sp>
      <p:sp>
        <p:nvSpPr>
          <p:cNvPr id="6" name="Text 4"/>
          <p:cNvSpPr/>
          <p:nvPr/>
        </p:nvSpPr>
        <p:spPr>
          <a:xfrm>
            <a:off x="968351" y="5062736"/>
            <a:ext cx="8375440" cy="222250"/>
          </a:xfrm>
          <a:prstGeom prst="rect">
            <a:avLst/>
          </a:prstGeom>
          <a:noFill/>
          <a:ln/>
        </p:spPr>
        <p:txBody>
          <a:bodyPr wrap="none" lIns="0" tIns="0" rIns="0" bIns="0" rtlCol="0" anchor="t"/>
          <a:lstStyle/>
          <a:p>
            <a:pPr algn="l" indent="0" marL="0">
              <a:lnSpc>
                <a:spcPct val="117000"/>
              </a:lnSpc>
              <a:buNone/>
            </a:pPr>
            <a:r>
              <a:rPr lang="en-US" sz="1250" spc="12" kern="100" dirty="0">
                <a:solidFill>
                  <a:srgbClr val="FFFFFF"/>
                </a:solidFill>
                <a:latin typeface="Assistant" pitchFamily="34" charset="0"/>
                <a:ea typeface="Assistant" pitchFamily="34" charset="-122"/>
                <a:cs typeface="Assistant" pitchFamily="34" charset="-120"/>
              </a:rPr>
              <a:t>Source: Customer Behavior Dashboard report · SQL feature engineering · Power BI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6147"/>
            <a:ext cx="10972526" cy="409277"/>
          </a:xfrm>
          <a:prstGeom prst="rect">
            <a:avLst/>
          </a:prstGeom>
          <a:noFill/>
          <a:ln/>
        </p:spPr>
        <p:txBody>
          <a:bodyPr wrap="none" lIns="0" tIns="0" rIns="0" bIns="0" rtlCol="0" anchor="t"/>
          <a:lstStyle/>
          <a:p>
            <a:pPr algn="l" indent="0" marL="0">
              <a:lnSpc>
                <a:spcPct val="96000"/>
              </a:lnSpc>
              <a:buNone/>
            </a:pPr>
            <a:r>
              <a:rPr lang="en-US" sz="2800" dirty="0">
                <a:solidFill>
                  <a:srgbClr val="1B2632"/>
                </a:solidFill>
                <a:latin typeface="Rubik SemiBold" pitchFamily="34" charset="0"/>
                <a:ea typeface="Rubik SemiBold" pitchFamily="34" charset="-122"/>
                <a:cs typeface="Rubik SemiBold" pitchFamily="34" charset="-120"/>
              </a:rPr>
              <a:t>Contents</a:t>
            </a:r>
            <a:endParaRPr lang="en-US" sz="2800" dirty="0"/>
          </a:p>
        </p:txBody>
      </p:sp>
      <p:sp>
        <p:nvSpPr>
          <p:cNvPr id="3" name="Text 1"/>
          <p:cNvSpPr/>
          <p:nvPr/>
        </p:nvSpPr>
        <p:spPr>
          <a:xfrm>
            <a:off x="609585" y="1184559"/>
            <a:ext cx="6309262" cy="531614"/>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3A4756"/>
                </a:solidFill>
                <a:latin typeface="Assistant" pitchFamily="34" charset="0"/>
                <a:ea typeface="Assistant" pitchFamily="34" charset="-122"/>
                <a:cs typeface="Assistant" pitchFamily="34" charset="-120"/>
              </a:rPr>
              <a:t>This project analyzes 3,900 purchases to show who buys, what they buy, and how to grow repeat sales.</a:t>
            </a:r>
            <a:endParaRPr lang="en-US" sz="1500" dirty="0"/>
          </a:p>
        </p:txBody>
      </p:sp>
      <p:sp>
        <p:nvSpPr>
          <p:cNvPr id="4" name="Text 2"/>
          <p:cNvSpPr/>
          <p:nvPr/>
        </p:nvSpPr>
        <p:spPr>
          <a:xfrm>
            <a:off x="609585" y="2117130"/>
            <a:ext cx="757318"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01</a:t>
            </a:r>
            <a:endParaRPr lang="en-US" sz="1200" dirty="0"/>
          </a:p>
        </p:txBody>
      </p:sp>
      <p:sp>
        <p:nvSpPr>
          <p:cNvPr id="5" name="Text 3"/>
          <p:cNvSpPr/>
          <p:nvPr/>
        </p:nvSpPr>
        <p:spPr>
          <a:xfrm>
            <a:off x="909714" y="2042304"/>
            <a:ext cx="2625858" cy="280293"/>
          </a:xfrm>
          <a:prstGeom prst="rect">
            <a:avLst/>
          </a:prstGeom>
          <a:noFill/>
          <a:ln/>
        </p:spPr>
        <p:txBody>
          <a:bodyPr wrap="none" lIns="0" tIns="0" rIns="0" bIns="0" rtlCol="0" anchor="t"/>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Purpose and dataset</a:t>
            </a:r>
            <a:endParaRPr lang="en-US" sz="1600" dirty="0"/>
          </a:p>
        </p:txBody>
      </p:sp>
      <p:sp>
        <p:nvSpPr>
          <p:cNvPr id="6" name="Text 4"/>
          <p:cNvSpPr/>
          <p:nvPr/>
        </p:nvSpPr>
        <p:spPr>
          <a:xfrm>
            <a:off x="909714" y="2440921"/>
            <a:ext cx="2625858" cy="680145"/>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The business questions, built on 3,900 purchases across customer, purchase, and shopping-behavior records.</a:t>
            </a:r>
            <a:endParaRPr lang="en-US" sz="1250" dirty="0"/>
          </a:p>
        </p:txBody>
      </p:sp>
      <p:sp>
        <p:nvSpPr>
          <p:cNvPr id="7" name="Text 5"/>
          <p:cNvSpPr/>
          <p:nvPr/>
        </p:nvSpPr>
        <p:spPr>
          <a:xfrm>
            <a:off x="3992760" y="2230537"/>
            <a:ext cx="763866"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02</a:t>
            </a:r>
            <a:endParaRPr lang="en-US" sz="1200" dirty="0"/>
          </a:p>
        </p:txBody>
      </p:sp>
      <p:sp>
        <p:nvSpPr>
          <p:cNvPr id="8" name="Text 6"/>
          <p:cNvSpPr/>
          <p:nvPr/>
        </p:nvSpPr>
        <p:spPr>
          <a:xfrm>
            <a:off x="4299438" y="2155711"/>
            <a:ext cx="2619409" cy="280293"/>
          </a:xfrm>
          <a:prstGeom prst="rect">
            <a:avLst/>
          </a:prstGeom>
          <a:noFill/>
          <a:ln/>
        </p:spPr>
        <p:txBody>
          <a:bodyPr wrap="none" lIns="0" tIns="0" rIns="0" bIns="0" rtlCol="0" anchor="t"/>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Customer profile</a:t>
            </a:r>
            <a:endParaRPr lang="en-US" sz="1600" dirty="0"/>
          </a:p>
        </p:txBody>
      </p:sp>
      <p:sp>
        <p:nvSpPr>
          <p:cNvPr id="9" name="Text 7"/>
          <p:cNvSpPr/>
          <p:nvPr/>
        </p:nvSpPr>
        <p:spPr>
          <a:xfrm>
            <a:off x="4299438" y="2554328"/>
            <a:ext cx="2619409" cy="45343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Demographics, categories, and geography across the buyer base.</a:t>
            </a:r>
            <a:endParaRPr lang="en-US" sz="1250" dirty="0"/>
          </a:p>
        </p:txBody>
      </p:sp>
      <p:sp>
        <p:nvSpPr>
          <p:cNvPr id="10" name="Text 8"/>
          <p:cNvSpPr/>
          <p:nvPr/>
        </p:nvSpPr>
        <p:spPr>
          <a:xfrm>
            <a:off x="609585" y="3968254"/>
            <a:ext cx="763866"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03</a:t>
            </a:r>
            <a:endParaRPr lang="en-US" sz="1200" dirty="0"/>
          </a:p>
        </p:txBody>
      </p:sp>
      <p:sp>
        <p:nvSpPr>
          <p:cNvPr id="11" name="Text 9"/>
          <p:cNvSpPr/>
          <p:nvPr/>
        </p:nvSpPr>
        <p:spPr>
          <a:xfrm>
            <a:off x="916262" y="3893428"/>
            <a:ext cx="2619309" cy="560586"/>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Data preparation and PostgreSQL workflow</a:t>
            </a:r>
            <a:endParaRPr lang="en-US" sz="1600" dirty="0"/>
          </a:p>
        </p:txBody>
      </p:sp>
      <p:sp>
        <p:nvSpPr>
          <p:cNvPr id="12" name="Text 10"/>
          <p:cNvSpPr/>
          <p:nvPr/>
        </p:nvSpPr>
        <p:spPr>
          <a:xfrm>
            <a:off x="916262" y="4572338"/>
            <a:ext cx="2619309" cy="45343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Clean, consistent tables, business-ready dimensions, and SQL queries.</a:t>
            </a:r>
            <a:endParaRPr lang="en-US" sz="1250" dirty="0"/>
          </a:p>
        </p:txBody>
      </p:sp>
      <p:sp>
        <p:nvSpPr>
          <p:cNvPr id="13" name="Text 11"/>
          <p:cNvSpPr/>
          <p:nvPr/>
        </p:nvSpPr>
        <p:spPr>
          <a:xfrm>
            <a:off x="3992760" y="3881735"/>
            <a:ext cx="763866"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04</a:t>
            </a:r>
            <a:endParaRPr lang="en-US" sz="1200" dirty="0"/>
          </a:p>
        </p:txBody>
      </p:sp>
      <p:sp>
        <p:nvSpPr>
          <p:cNvPr id="14" name="Text 12"/>
          <p:cNvSpPr/>
          <p:nvPr/>
        </p:nvSpPr>
        <p:spPr>
          <a:xfrm>
            <a:off x="4299438" y="3806909"/>
            <a:ext cx="2619409" cy="280293"/>
          </a:xfrm>
          <a:prstGeom prst="rect">
            <a:avLst/>
          </a:prstGeom>
          <a:noFill/>
          <a:ln/>
        </p:spPr>
        <p:txBody>
          <a:bodyPr wrap="none" lIns="0" tIns="0" rIns="0" bIns="0" rtlCol="0" anchor="t"/>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SQL findings</a:t>
            </a:r>
            <a:endParaRPr lang="en-US" sz="1600" dirty="0"/>
          </a:p>
        </p:txBody>
      </p:sp>
      <p:sp>
        <p:nvSpPr>
          <p:cNvPr id="15" name="Text 13"/>
          <p:cNvSpPr/>
          <p:nvPr/>
        </p:nvSpPr>
        <p:spPr>
          <a:xfrm>
            <a:off x="4299438" y="4205526"/>
            <a:ext cx="2619409" cy="906859"/>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Who spends most, which categories lead, and how discounts, subscriptions, and shipping shape repeat buying.</a:t>
            </a:r>
            <a:endParaRPr lang="en-US" sz="1250" dirty="0"/>
          </a:p>
        </p:txBody>
      </p:sp>
      <p:sp>
        <p:nvSpPr>
          <p:cNvPr id="16" name="Text 14"/>
          <p:cNvSpPr/>
          <p:nvPr/>
        </p:nvSpPr>
        <p:spPr>
          <a:xfrm>
            <a:off x="609585" y="5986363"/>
            <a:ext cx="763866"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05</a:t>
            </a:r>
            <a:endParaRPr lang="en-US" sz="1200" dirty="0"/>
          </a:p>
        </p:txBody>
      </p:sp>
      <p:sp>
        <p:nvSpPr>
          <p:cNvPr id="17" name="Text 15"/>
          <p:cNvSpPr/>
          <p:nvPr/>
        </p:nvSpPr>
        <p:spPr>
          <a:xfrm>
            <a:off x="916262" y="5911538"/>
            <a:ext cx="2619309" cy="280293"/>
          </a:xfrm>
          <a:prstGeom prst="rect">
            <a:avLst/>
          </a:prstGeom>
          <a:noFill/>
          <a:ln/>
        </p:spPr>
        <p:txBody>
          <a:bodyPr wrap="none" lIns="0" tIns="0" rIns="0" bIns="0" rtlCol="0" anchor="t"/>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Power BI dashboard</a:t>
            </a:r>
            <a:endParaRPr lang="en-US" sz="1600" dirty="0"/>
          </a:p>
        </p:txBody>
      </p:sp>
      <p:sp>
        <p:nvSpPr>
          <p:cNvPr id="18" name="Text 16"/>
          <p:cNvSpPr/>
          <p:nvPr/>
        </p:nvSpPr>
        <p:spPr>
          <a:xfrm>
            <a:off x="916262" y="6310155"/>
            <a:ext cx="2619309" cy="45343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Interactive views of revenue, ratings, and category demand.</a:t>
            </a:r>
            <a:endParaRPr lang="en-US" sz="1250" dirty="0"/>
          </a:p>
        </p:txBody>
      </p:sp>
      <p:sp>
        <p:nvSpPr>
          <p:cNvPr id="19" name="Text 17"/>
          <p:cNvSpPr/>
          <p:nvPr/>
        </p:nvSpPr>
        <p:spPr>
          <a:xfrm>
            <a:off x="3992760" y="5732859"/>
            <a:ext cx="763866" cy="152400"/>
          </a:xfrm>
          <a:prstGeom prst="rect">
            <a:avLst/>
          </a:prstGeom>
          <a:noFill/>
          <a:ln/>
        </p:spPr>
        <p:txBody>
          <a:bodyPr wrap="none" lIns="0" tIns="0" rIns="0" bIns="0" rtlCol="0" anchor="t"/>
          <a:lstStyle/>
          <a:p>
            <a:pPr algn="l" indent="0" marL="0">
              <a:lnSpc>
                <a:spcPct val="83000"/>
              </a:lnSpc>
              <a:buNone/>
            </a:pPr>
            <a:r>
              <a:rPr lang="en-US" sz="1200" dirty="0">
                <a:solidFill>
                  <a:srgbClr val="536270"/>
                </a:solidFill>
                <a:latin typeface="Assistant SemiBold" pitchFamily="34" charset="0"/>
                <a:ea typeface="Assistant SemiBold" pitchFamily="34" charset="-122"/>
                <a:cs typeface="Assistant SemiBold" pitchFamily="34" charset="-120"/>
              </a:rPr>
              <a:t>06</a:t>
            </a:r>
            <a:endParaRPr lang="en-US" sz="1200" dirty="0"/>
          </a:p>
        </p:txBody>
      </p:sp>
      <p:sp>
        <p:nvSpPr>
          <p:cNvPr id="20" name="Text 18"/>
          <p:cNvSpPr/>
          <p:nvPr/>
        </p:nvSpPr>
        <p:spPr>
          <a:xfrm>
            <a:off x="4299438" y="5658034"/>
            <a:ext cx="2619409" cy="560586"/>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1B2632"/>
                </a:solidFill>
                <a:latin typeface="Assistant" pitchFamily="34" charset="0"/>
                <a:ea typeface="Assistant" pitchFamily="34" charset="-122"/>
                <a:cs typeface="Assistant" pitchFamily="34" charset="-120"/>
              </a:rPr>
              <a:t>Recommendations and next steps</a:t>
            </a:r>
            <a:endParaRPr lang="en-US" sz="1600" dirty="0"/>
          </a:p>
        </p:txBody>
      </p:sp>
      <p:sp>
        <p:nvSpPr>
          <p:cNvPr id="21" name="Text 19"/>
          <p:cNvSpPr/>
          <p:nvPr/>
        </p:nvSpPr>
        <p:spPr>
          <a:xfrm>
            <a:off x="4299438" y="6336944"/>
            <a:ext cx="2619409" cy="680145"/>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Targeted discounts and loyalty offers, starting with a test that turns single-purchase shoppers into repeat buyers.</a:t>
            </a:r>
            <a:endParaRPr lang="en-US" sz="1250" dirty="0"/>
          </a:p>
        </p:txBody>
      </p:sp>
      <p:pic>
        <p:nvPicPr>
          <p:cNvPr id="22" name="Image 0" descr="preencoded.png">    </p:cNvPr>
          <p:cNvPicPr>
            <a:picLocks noChangeAspect="1"/>
          </p:cNvPicPr>
          <p:nvPr/>
        </p:nvPicPr>
        <p:blipFill>
          <a:blip r:embed="rId1"/>
          <a:stretch>
            <a:fillRect/>
          </a:stretch>
        </p:blipFill>
        <p:spPr>
          <a:xfrm>
            <a:off x="7375936" y="1184374"/>
            <a:ext cx="4206174" cy="3282553"/>
          </a:xfrm>
          <a:prstGeom prst="rect">
            <a:avLst/>
          </a:prstGeom>
        </p:spPr>
      </p:pic>
      <p:sp>
        <p:nvSpPr>
          <p:cNvPr id="23" name="Shape 20"/>
          <p:cNvSpPr/>
          <p:nvPr/>
        </p:nvSpPr>
        <p:spPr>
          <a:xfrm>
            <a:off x="7375936" y="4593828"/>
            <a:ext cx="4206174" cy="2510334"/>
          </a:xfrm>
          <a:prstGeom prst="rect">
            <a:avLst/>
          </a:prstGeom>
          <a:solidFill>
            <a:srgbClr val="E7EAF0"/>
          </a:solidFill>
          <a:ln/>
        </p:spPr>
      </p:sp>
      <p:sp>
        <p:nvSpPr>
          <p:cNvPr id="24" name="Text 21"/>
          <p:cNvSpPr/>
          <p:nvPr/>
        </p:nvSpPr>
        <p:spPr>
          <a:xfrm>
            <a:off x="7655329" y="5509360"/>
            <a:ext cx="3647388" cy="680145"/>
          </a:xfrm>
          <a:prstGeom prst="rect">
            <a:avLst/>
          </a:prstGeom>
          <a:noFill/>
          <a:ln/>
        </p:spPr>
        <p:txBody>
          <a:bodyPr wrap="square" lIns="0" tIns="0" rIns="0" bIns="0" rtlCol="0" anchor="t">
            <a:normAutofit/>
          </a:bodyPr>
          <a:lstStyle/>
          <a:p>
            <a:pPr algn="l" indent="0" marL="0">
              <a:lnSpc>
                <a:spcPct val="117000"/>
              </a:lnSpc>
              <a:buNone/>
            </a:pPr>
            <a:r>
              <a:rPr lang="en-US" sz="1250" b="1" dirty="0">
                <a:solidFill>
                  <a:srgbClr val="3A4756"/>
                </a:solidFill>
                <a:latin typeface="Assistant Bold" pitchFamily="34" charset="0"/>
                <a:ea typeface="Assistant Bold" pitchFamily="34" charset="-122"/>
                <a:cs typeface="Assistant Bold" pitchFamily="34" charset="-120"/>
              </a:rPr>
              <a:t>Core commercial question:</a:t>
            </a:r>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 Identifying the operational levers that convert single-item promotional shoppers into sustained repeat buyers.</a:t>
            </a:r>
            <a:endParaRPr lang="en-US" sz="1250" dirty="0"/>
          </a:p>
        </p:txBody>
      </p:sp>
      <p:sp>
        <p:nvSpPr>
          <p:cNvPr id="25" name="Shape 22"/>
          <p:cNvSpPr/>
          <p:nvPr/>
        </p:nvSpPr>
        <p:spPr>
          <a:xfrm>
            <a:off x="3757816" y="1813322"/>
            <a:ext cx="12700" cy="1763613"/>
          </a:xfrm>
          <a:prstGeom prst="rect">
            <a:avLst/>
          </a:prstGeom>
          <a:solidFill>
            <a:srgbClr val="A7B3BE"/>
          </a:solidFill>
          <a:ln/>
        </p:spPr>
      </p:sp>
      <p:sp>
        <p:nvSpPr>
          <p:cNvPr id="26" name="Shape 23"/>
          <p:cNvSpPr/>
          <p:nvPr/>
        </p:nvSpPr>
        <p:spPr>
          <a:xfrm>
            <a:off x="609585" y="3570585"/>
            <a:ext cx="3154581" cy="12700"/>
          </a:xfrm>
          <a:prstGeom prst="rect">
            <a:avLst/>
          </a:prstGeom>
          <a:solidFill>
            <a:srgbClr val="A7B3BE"/>
          </a:solidFill>
          <a:ln/>
        </p:spPr>
      </p:sp>
      <p:sp>
        <p:nvSpPr>
          <p:cNvPr id="27" name="Shape 24"/>
          <p:cNvSpPr/>
          <p:nvPr/>
        </p:nvSpPr>
        <p:spPr>
          <a:xfrm>
            <a:off x="3757816" y="3576935"/>
            <a:ext cx="12700" cy="1763613"/>
          </a:xfrm>
          <a:prstGeom prst="rect">
            <a:avLst/>
          </a:prstGeom>
          <a:solidFill>
            <a:srgbClr val="A7B3BE"/>
          </a:solidFill>
          <a:ln/>
        </p:spPr>
      </p:sp>
      <p:sp>
        <p:nvSpPr>
          <p:cNvPr id="28" name="Shape 25"/>
          <p:cNvSpPr/>
          <p:nvPr/>
        </p:nvSpPr>
        <p:spPr>
          <a:xfrm>
            <a:off x="3764166" y="3570585"/>
            <a:ext cx="3154680" cy="12700"/>
          </a:xfrm>
          <a:prstGeom prst="rect">
            <a:avLst/>
          </a:prstGeom>
          <a:solidFill>
            <a:srgbClr val="A7B3BE"/>
          </a:solidFill>
          <a:ln/>
        </p:spPr>
      </p:sp>
      <p:sp>
        <p:nvSpPr>
          <p:cNvPr id="29" name="Shape 26"/>
          <p:cNvSpPr/>
          <p:nvPr/>
        </p:nvSpPr>
        <p:spPr>
          <a:xfrm>
            <a:off x="609585" y="5334198"/>
            <a:ext cx="3154581" cy="12700"/>
          </a:xfrm>
          <a:prstGeom prst="rect">
            <a:avLst/>
          </a:prstGeom>
          <a:solidFill>
            <a:srgbClr val="A7B3BE"/>
          </a:solidFill>
          <a:ln/>
        </p:spPr>
      </p:sp>
      <p:sp>
        <p:nvSpPr>
          <p:cNvPr id="30" name="Shape 27"/>
          <p:cNvSpPr/>
          <p:nvPr/>
        </p:nvSpPr>
        <p:spPr>
          <a:xfrm>
            <a:off x="3757816" y="5340548"/>
            <a:ext cx="12700" cy="1763613"/>
          </a:xfrm>
          <a:prstGeom prst="rect">
            <a:avLst/>
          </a:prstGeom>
          <a:solidFill>
            <a:srgbClr val="A7B3BE"/>
          </a:solidFill>
          <a:ln/>
        </p:spPr>
      </p:sp>
      <p:sp>
        <p:nvSpPr>
          <p:cNvPr id="31" name="Shape 28"/>
          <p:cNvSpPr/>
          <p:nvPr/>
        </p:nvSpPr>
        <p:spPr>
          <a:xfrm>
            <a:off x="3764166" y="5334198"/>
            <a:ext cx="3154680" cy="12700"/>
          </a:xfrm>
          <a:prstGeom prst="rect">
            <a:avLst/>
          </a:prstGeom>
          <a:solidFill>
            <a:srgbClr val="A7B3BE"/>
          </a:solidFill>
          <a:ln/>
        </p:spPr>
      </p:sp>
      <p:sp>
        <p:nvSpPr>
          <p:cNvPr id="32" name="Text 29"/>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509" cy="6858000"/>
          </a:xfrm>
          <a:prstGeom prst="rect">
            <a:avLst/>
          </a:prstGeom>
        </p:spPr>
      </p:pic>
      <p:sp>
        <p:nvSpPr>
          <p:cNvPr id="3" name="Text 0"/>
          <p:cNvSpPr/>
          <p:nvPr/>
        </p:nvSpPr>
        <p:spPr>
          <a:xfrm>
            <a:off x="4013100" y="204152"/>
            <a:ext cx="8178595" cy="205680"/>
          </a:xfrm>
          <a:prstGeom prst="rect">
            <a:avLst/>
          </a:prstGeom>
          <a:noFill/>
          <a:ln/>
        </p:spPr>
        <p:txBody>
          <a:bodyPr wrap="none" lIns="0" tIns="0" rIns="0" bIns="0" rtlCol="0" anchor="t"/>
          <a:lstStyle/>
          <a:p>
            <a:pPr algn="l" indent="0" marL="0">
              <a:lnSpc>
                <a:spcPct val="113000"/>
              </a:lnSpc>
              <a:buNone/>
            </a:pPr>
            <a:r>
              <a:rPr lang="en-US" sz="1200" dirty="0">
                <a:solidFill>
                  <a:srgbClr val="536270"/>
                </a:solidFill>
                <a:latin typeface="Assistant SemiBold" pitchFamily="34" charset="0"/>
                <a:ea typeface="Assistant SemiBold" pitchFamily="34" charset="-122"/>
                <a:cs typeface="Assistant SemiBold" pitchFamily="34" charset="-120"/>
              </a:rPr>
              <a:t>DATA STRUCTURE &amp; SCHEMA</a:t>
            </a:r>
            <a:endParaRPr lang="en-US" sz="1200" dirty="0"/>
          </a:p>
        </p:txBody>
      </p:sp>
      <p:sp>
        <p:nvSpPr>
          <p:cNvPr id="4" name="Text 1"/>
          <p:cNvSpPr/>
          <p:nvPr/>
        </p:nvSpPr>
        <p:spPr>
          <a:xfrm>
            <a:off x="4013100" y="504224"/>
            <a:ext cx="7975400" cy="140196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The dataset combines customer, purchase, and shopping-behavior signals</a:t>
            </a:r>
            <a:endParaRPr lang="en-US" sz="3200" dirty="0"/>
          </a:p>
        </p:txBody>
      </p:sp>
      <p:sp>
        <p:nvSpPr>
          <p:cNvPr id="5" name="Text 2"/>
          <p:cNvSpPr/>
          <p:nvPr/>
        </p:nvSpPr>
        <p:spPr>
          <a:xfrm>
            <a:off x="4013100" y="2112466"/>
            <a:ext cx="7975400" cy="64770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A structured transaction matrix containing 3,900 records and 18 dimensions covering the customer lifecycle.</a:t>
            </a:r>
            <a:endParaRPr lang="en-US" sz="1700" dirty="0"/>
          </a:p>
        </p:txBody>
      </p:sp>
      <p:pic>
        <p:nvPicPr>
          <p:cNvPr id="6" name="Image 1" descr="preencoded.png">    </p:cNvPr>
          <p:cNvPicPr>
            <a:picLocks noChangeAspect="1"/>
          </p:cNvPicPr>
          <p:nvPr/>
        </p:nvPicPr>
        <p:blipFill>
          <a:blip r:embed="rId2"/>
          <a:stretch>
            <a:fillRect/>
          </a:stretch>
        </p:blipFill>
        <p:spPr>
          <a:xfrm>
            <a:off x="4013100" y="2963366"/>
            <a:ext cx="302213" cy="302220"/>
          </a:xfrm>
          <a:prstGeom prst="rect">
            <a:avLst/>
          </a:prstGeom>
        </p:spPr>
      </p:pic>
      <p:sp>
        <p:nvSpPr>
          <p:cNvPr id="7" name="Text 3"/>
          <p:cNvSpPr/>
          <p:nvPr/>
        </p:nvSpPr>
        <p:spPr>
          <a:xfrm>
            <a:off x="4013100" y="3398302"/>
            <a:ext cx="2429806"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Customer fields</a:t>
            </a:r>
            <a:endParaRPr lang="en-US" sz="1800" dirty="0"/>
          </a:p>
        </p:txBody>
      </p:sp>
      <p:sp>
        <p:nvSpPr>
          <p:cNvPr id="8" name="Text 4"/>
          <p:cNvSpPr/>
          <p:nvPr/>
        </p:nvSpPr>
        <p:spPr>
          <a:xfrm>
            <a:off x="4013100" y="3868142"/>
            <a:ext cx="2429806" cy="828675"/>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Age, gender, location, and subscription status establishing base customer identity.</a:t>
            </a:r>
            <a:endParaRPr lang="en-US" sz="1450" dirty="0"/>
          </a:p>
        </p:txBody>
      </p:sp>
      <p:sp>
        <p:nvSpPr>
          <p:cNvPr id="9" name="Text 5"/>
          <p:cNvSpPr/>
          <p:nvPr/>
        </p:nvSpPr>
        <p:spPr>
          <a:xfrm>
            <a:off x="4013100" y="5003205"/>
            <a:ext cx="2658401" cy="222250"/>
          </a:xfrm>
          <a:prstGeom prst="rect">
            <a:avLst/>
          </a:prstGeom>
          <a:noFill/>
          <a:ln/>
        </p:spPr>
        <p:txBody>
          <a:bodyPr wrap="none" lIns="0" tIns="0" rIns="0" bIns="0" rtlCol="0" anchor="t"/>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Scope: </a:t>
            </a:r>
            <a:pPr algn="l" indent="0" marL="0">
              <a:lnSpc>
                <a:spcPct val="117000"/>
              </a:lnSpc>
              <a:buNone/>
            </a:pPr>
            <a:r>
              <a:rPr lang="en-US" sz="1250" b="1" dirty="0">
                <a:solidFill>
                  <a:srgbClr val="536270"/>
                </a:solidFill>
                <a:latin typeface="Assistant Bold" pitchFamily="34" charset="0"/>
                <a:ea typeface="Assistant Bold" pitchFamily="34" charset="-122"/>
                <a:cs typeface="Assistant Bold" pitchFamily="34" charset="-120"/>
              </a:rPr>
              <a:t>Demographic</a:t>
            </a:r>
            <a:endParaRPr lang="en-US" sz="1250" dirty="0"/>
          </a:p>
        </p:txBody>
      </p:sp>
      <p:pic>
        <p:nvPicPr>
          <p:cNvPr id="10" name="Image 2" descr="preencoded.png">    </p:cNvPr>
          <p:cNvPicPr>
            <a:picLocks noChangeAspect="1"/>
          </p:cNvPicPr>
          <p:nvPr/>
        </p:nvPicPr>
        <p:blipFill>
          <a:blip r:embed="rId3"/>
          <a:stretch>
            <a:fillRect/>
          </a:stretch>
        </p:blipFill>
        <p:spPr>
          <a:xfrm>
            <a:off x="6900095" y="2963366"/>
            <a:ext cx="302213" cy="302220"/>
          </a:xfrm>
          <a:prstGeom prst="rect">
            <a:avLst/>
          </a:prstGeom>
        </p:spPr>
      </p:pic>
      <p:sp>
        <p:nvSpPr>
          <p:cNvPr id="11" name="Text 6"/>
          <p:cNvSpPr/>
          <p:nvPr/>
        </p:nvSpPr>
        <p:spPr>
          <a:xfrm>
            <a:off x="6900095" y="3398302"/>
            <a:ext cx="2201311"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Purchase fields</a:t>
            </a:r>
            <a:endParaRPr lang="en-US" sz="1800" dirty="0"/>
          </a:p>
        </p:txBody>
      </p:sp>
      <p:sp>
        <p:nvSpPr>
          <p:cNvPr id="12" name="Text 7"/>
          <p:cNvSpPr/>
          <p:nvPr/>
        </p:nvSpPr>
        <p:spPr>
          <a:xfrm>
            <a:off x="6900095" y="3868142"/>
            <a:ext cx="2201311" cy="828675"/>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Item, category, amount, season, size, color, shipping type, and payment method.</a:t>
            </a:r>
            <a:endParaRPr lang="en-US" sz="1450" dirty="0"/>
          </a:p>
        </p:txBody>
      </p:sp>
      <p:sp>
        <p:nvSpPr>
          <p:cNvPr id="13" name="Text 8"/>
          <p:cNvSpPr/>
          <p:nvPr/>
        </p:nvSpPr>
        <p:spPr>
          <a:xfrm>
            <a:off x="6900095" y="5003205"/>
            <a:ext cx="2429906" cy="222250"/>
          </a:xfrm>
          <a:prstGeom prst="rect">
            <a:avLst/>
          </a:prstGeom>
          <a:noFill/>
          <a:ln/>
        </p:spPr>
        <p:txBody>
          <a:bodyPr wrap="none" lIns="0" tIns="0" rIns="0" bIns="0" rtlCol="0" anchor="t"/>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Scope: </a:t>
            </a:r>
            <a:pPr algn="l" indent="0" marL="0">
              <a:lnSpc>
                <a:spcPct val="117000"/>
              </a:lnSpc>
              <a:buNone/>
            </a:pPr>
            <a:r>
              <a:rPr lang="en-US" sz="1250" b="1" dirty="0">
                <a:solidFill>
                  <a:srgbClr val="536270"/>
                </a:solidFill>
                <a:latin typeface="Assistant Bold" pitchFamily="34" charset="0"/>
                <a:ea typeface="Assistant Bold" pitchFamily="34" charset="-122"/>
                <a:cs typeface="Assistant Bold" pitchFamily="34" charset="-120"/>
              </a:rPr>
              <a:t>Transactional</a:t>
            </a:r>
            <a:endParaRPr lang="en-US" sz="1250" dirty="0"/>
          </a:p>
        </p:txBody>
      </p:sp>
      <p:pic>
        <p:nvPicPr>
          <p:cNvPr id="14" name="Image 3" descr="preencoded.png">    </p:cNvPr>
          <p:cNvPicPr>
            <a:picLocks noChangeAspect="1"/>
          </p:cNvPicPr>
          <p:nvPr/>
        </p:nvPicPr>
        <p:blipFill>
          <a:blip r:embed="rId4"/>
          <a:stretch>
            <a:fillRect/>
          </a:stretch>
        </p:blipFill>
        <p:spPr>
          <a:xfrm>
            <a:off x="9558594" y="2963366"/>
            <a:ext cx="302213" cy="302220"/>
          </a:xfrm>
          <a:prstGeom prst="rect">
            <a:avLst/>
          </a:prstGeom>
        </p:spPr>
      </p:pic>
      <p:sp>
        <p:nvSpPr>
          <p:cNvPr id="15" name="Text 9"/>
          <p:cNvSpPr/>
          <p:nvPr/>
        </p:nvSpPr>
        <p:spPr>
          <a:xfrm>
            <a:off x="9558594" y="3398302"/>
            <a:ext cx="2429806"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Behavior fields</a:t>
            </a:r>
            <a:endParaRPr lang="en-US" sz="1800" dirty="0"/>
          </a:p>
        </p:txBody>
      </p:sp>
      <p:sp>
        <p:nvSpPr>
          <p:cNvPr id="16" name="Text 10"/>
          <p:cNvSpPr/>
          <p:nvPr/>
        </p:nvSpPr>
        <p:spPr>
          <a:xfrm>
            <a:off x="9558594" y="3868142"/>
            <a:ext cx="2429806" cy="828675"/>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Discount use, promo code use, previous purchases, purchase frequency, and review rating.</a:t>
            </a:r>
            <a:endParaRPr lang="en-US" sz="1450" dirty="0"/>
          </a:p>
        </p:txBody>
      </p:sp>
      <p:sp>
        <p:nvSpPr>
          <p:cNvPr id="17" name="Text 11"/>
          <p:cNvSpPr/>
          <p:nvPr/>
        </p:nvSpPr>
        <p:spPr>
          <a:xfrm>
            <a:off x="9558594" y="5003205"/>
            <a:ext cx="2429806" cy="222250"/>
          </a:xfrm>
          <a:prstGeom prst="rect">
            <a:avLst/>
          </a:prstGeom>
          <a:noFill/>
          <a:ln/>
        </p:spPr>
        <p:txBody>
          <a:bodyPr wrap="none" lIns="0" tIns="0" rIns="0" bIns="0" rtlCol="0" anchor="t"/>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Scope: </a:t>
            </a:r>
            <a:pPr algn="l" indent="0" marL="0">
              <a:lnSpc>
                <a:spcPct val="117000"/>
              </a:lnSpc>
              <a:buNone/>
            </a:pPr>
            <a:r>
              <a:rPr lang="en-US" sz="1250" b="1" dirty="0">
                <a:solidFill>
                  <a:srgbClr val="536270"/>
                </a:solidFill>
                <a:latin typeface="Assistant Bold" pitchFamily="34" charset="0"/>
                <a:ea typeface="Assistant Bold" pitchFamily="34" charset="-122"/>
                <a:cs typeface="Assistant Bold" pitchFamily="34" charset="-120"/>
              </a:rPr>
              <a:t>Engagement</a:t>
            </a:r>
            <a:endParaRPr lang="en-US" sz="1250" dirty="0"/>
          </a:p>
        </p:txBody>
      </p:sp>
      <p:sp>
        <p:nvSpPr>
          <p:cNvPr id="18" name="Text 12"/>
          <p:cNvSpPr/>
          <p:nvPr/>
        </p:nvSpPr>
        <p:spPr>
          <a:xfrm>
            <a:off x="4013100" y="6211888"/>
            <a:ext cx="7975400" cy="44450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3,900 rows and 18 columns. Customers range from age 18 to 70 (mean 44.07); the average purchase is $59.76 and the average review rating is 3.75.</a:t>
            </a:r>
            <a:endParaRPr lang="en-US" sz="1250" dirty="0"/>
          </a:p>
        </p:txBody>
      </p:sp>
      <p:sp>
        <p:nvSpPr>
          <p:cNvPr id="19" name="Shape 13"/>
          <p:cNvSpPr/>
          <p:nvPr/>
        </p:nvSpPr>
        <p:spPr>
          <a:xfrm>
            <a:off x="6665150" y="2963366"/>
            <a:ext cx="12700" cy="2260501"/>
          </a:xfrm>
          <a:prstGeom prst="rect">
            <a:avLst/>
          </a:prstGeom>
          <a:solidFill>
            <a:srgbClr val="A7B3BE"/>
          </a:solidFill>
          <a:ln/>
        </p:spPr>
      </p:sp>
      <p:sp>
        <p:nvSpPr>
          <p:cNvPr id="20" name="Shape 14"/>
          <p:cNvSpPr/>
          <p:nvPr/>
        </p:nvSpPr>
        <p:spPr>
          <a:xfrm>
            <a:off x="9323650" y="2963366"/>
            <a:ext cx="12700" cy="2260501"/>
          </a:xfrm>
          <a:prstGeom prst="rect">
            <a:avLst/>
          </a:prstGeom>
          <a:solidFill>
            <a:srgbClr val="A7B3BE"/>
          </a:solidFill>
          <a:ln/>
        </p:spPr>
      </p:sp>
      <p:sp>
        <p:nvSpPr>
          <p:cNvPr id="21" name="Text 15"/>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9218"/>
            <a:ext cx="10972526" cy="93464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Subscriptions, loyalty, and repeat buying shape the customer base</a:t>
            </a:r>
            <a:endParaRPr lang="en-US" sz="3200" dirty="0"/>
          </a:p>
        </p:txBody>
      </p:sp>
      <p:sp>
        <p:nvSpPr>
          <p:cNvPr id="3" name="Shape 1"/>
          <p:cNvSpPr/>
          <p:nvPr/>
        </p:nvSpPr>
        <p:spPr>
          <a:xfrm>
            <a:off x="609585" y="1760141"/>
            <a:ext cx="5422764" cy="1003300"/>
          </a:xfrm>
          <a:prstGeom prst="rect">
            <a:avLst/>
          </a:prstGeom>
          <a:solidFill>
            <a:srgbClr val="E7EAF0"/>
          </a:solidFill>
          <a:ln/>
        </p:spPr>
      </p:sp>
      <p:sp>
        <p:nvSpPr>
          <p:cNvPr id="4" name="Text 2"/>
          <p:cNvSpPr/>
          <p:nvPr/>
        </p:nvSpPr>
        <p:spPr>
          <a:xfrm>
            <a:off x="787380" y="1937941"/>
            <a:ext cx="5067173" cy="64770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Subscribers: 1,053 customers averaging $59.49 per purchase, generating $62,645 in total revenue.</a:t>
            </a:r>
            <a:endParaRPr lang="en-US" sz="1700" dirty="0"/>
          </a:p>
        </p:txBody>
      </p:sp>
      <p:sp>
        <p:nvSpPr>
          <p:cNvPr id="5" name="Shape 3"/>
          <p:cNvSpPr/>
          <p:nvPr/>
        </p:nvSpPr>
        <p:spPr>
          <a:xfrm>
            <a:off x="6159346" y="1760141"/>
            <a:ext cx="5422764" cy="1003300"/>
          </a:xfrm>
          <a:prstGeom prst="rect">
            <a:avLst/>
          </a:prstGeom>
          <a:solidFill>
            <a:srgbClr val="E7EAF0"/>
          </a:solidFill>
          <a:ln/>
        </p:spPr>
      </p:sp>
      <p:sp>
        <p:nvSpPr>
          <p:cNvPr id="6" name="Text 4"/>
          <p:cNvSpPr/>
          <p:nvPr/>
        </p:nvSpPr>
        <p:spPr>
          <a:xfrm>
            <a:off x="6337141" y="1937941"/>
            <a:ext cx="5067173" cy="64770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Non-subscribers: 2,847 customers averaging $59.87 per purchase, generating $170,436 in total revenue.</a:t>
            </a:r>
            <a:endParaRPr lang="en-US" sz="1700" dirty="0"/>
          </a:p>
        </p:txBody>
      </p:sp>
      <p:sp>
        <p:nvSpPr>
          <p:cNvPr id="7" name="Shape 5"/>
          <p:cNvSpPr/>
          <p:nvPr/>
        </p:nvSpPr>
        <p:spPr>
          <a:xfrm>
            <a:off x="609585" y="2890441"/>
            <a:ext cx="5422764" cy="1327150"/>
          </a:xfrm>
          <a:prstGeom prst="rect">
            <a:avLst/>
          </a:prstGeom>
          <a:solidFill>
            <a:srgbClr val="E7EAF0"/>
          </a:solidFill>
          <a:ln/>
        </p:spPr>
      </p:sp>
      <p:sp>
        <p:nvSpPr>
          <p:cNvPr id="8" name="Text 6"/>
          <p:cNvSpPr/>
          <p:nvPr/>
        </p:nvSpPr>
        <p:spPr>
          <a:xfrm>
            <a:off x="787380" y="3068241"/>
            <a:ext cx="5067173" cy="64770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Loyalty: 3,116 loyal customers, 701 returning customers, and 83 new customers.</a:t>
            </a:r>
            <a:endParaRPr lang="en-US" sz="1700" dirty="0"/>
          </a:p>
        </p:txBody>
      </p:sp>
      <p:sp>
        <p:nvSpPr>
          <p:cNvPr id="9" name="Shape 7"/>
          <p:cNvSpPr/>
          <p:nvPr/>
        </p:nvSpPr>
        <p:spPr>
          <a:xfrm>
            <a:off x="6159346" y="2890441"/>
            <a:ext cx="5422764" cy="1327150"/>
          </a:xfrm>
          <a:prstGeom prst="rect">
            <a:avLst/>
          </a:prstGeom>
          <a:solidFill>
            <a:srgbClr val="E7EAF0"/>
          </a:solidFill>
          <a:ln/>
        </p:spPr>
      </p:sp>
      <p:sp>
        <p:nvSpPr>
          <p:cNvPr id="10" name="Text 8"/>
          <p:cNvSpPr/>
          <p:nvPr/>
        </p:nvSpPr>
        <p:spPr>
          <a:xfrm>
            <a:off x="6337141" y="3068241"/>
            <a:ext cx="5067173" cy="971550"/>
          </a:xfrm>
          <a:prstGeom prst="rect">
            <a:avLst/>
          </a:prstGeom>
          <a:noFill/>
          <a:ln/>
        </p:spPr>
        <p:txBody>
          <a:bodyPr wrap="square" lIns="0" tIns="0" rIns="0" bIns="0" rtlCol="0" anchor="t">
            <a:normAutofit/>
          </a:bodyPr>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Repeat buyers: 958 subscribers and 2,518 non-subscribers. Express orders average $60.48 versus $58.46 for Standard shipping.</a:t>
            </a:r>
            <a:endParaRPr lang="en-US" sz="1700" dirty="0"/>
          </a:p>
        </p:txBody>
      </p:sp>
      <p:sp>
        <p:nvSpPr>
          <p:cNvPr id="11" name="Text 9"/>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0553"/>
            <a:ext cx="11582110" cy="205680"/>
          </a:xfrm>
          <a:prstGeom prst="rect">
            <a:avLst/>
          </a:prstGeom>
          <a:noFill/>
          <a:ln/>
        </p:spPr>
        <p:txBody>
          <a:bodyPr wrap="none" lIns="0" tIns="0" rIns="0" bIns="0" rtlCol="0" anchor="t"/>
          <a:lstStyle/>
          <a:p>
            <a:pPr algn="l" indent="0" marL="0">
              <a:lnSpc>
                <a:spcPct val="113000"/>
              </a:lnSpc>
              <a:buNone/>
            </a:pPr>
            <a:r>
              <a:rPr lang="en-US" sz="1200" dirty="0">
                <a:solidFill>
                  <a:srgbClr val="536270"/>
                </a:solidFill>
                <a:latin typeface="Assistant SemiBold" pitchFamily="34" charset="0"/>
                <a:ea typeface="Assistant SemiBold" pitchFamily="34" charset="-122"/>
                <a:cs typeface="Assistant SemiBold" pitchFamily="34" charset="-120"/>
              </a:rPr>
              <a:t>PIPELINE INTEGRITY</a:t>
            </a:r>
            <a:endParaRPr lang="en-US" sz="1200" dirty="0"/>
          </a:p>
        </p:txBody>
      </p:sp>
      <p:sp>
        <p:nvSpPr>
          <p:cNvPr id="3" name="Text 1"/>
          <p:cNvSpPr/>
          <p:nvPr/>
        </p:nvSpPr>
        <p:spPr>
          <a:xfrm>
            <a:off x="609585" y="910624"/>
            <a:ext cx="10972526" cy="93464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Data preparation made the analysis consistent and reusable</a:t>
            </a:r>
            <a:endParaRPr lang="en-US" sz="3200" dirty="0"/>
          </a:p>
        </p:txBody>
      </p:sp>
      <p:sp>
        <p:nvSpPr>
          <p:cNvPr id="4" name="Text 2"/>
          <p:cNvSpPr/>
          <p:nvPr/>
        </p:nvSpPr>
        <p:spPr>
          <a:xfrm>
            <a:off x="609585" y="2051546"/>
            <a:ext cx="11582110" cy="323850"/>
          </a:xfrm>
          <a:prstGeom prst="rect">
            <a:avLst/>
          </a:prstGeom>
          <a:noFill/>
          <a:ln/>
        </p:spPr>
        <p:txBody>
          <a:bodyPr wrap="none" lIns="0" tIns="0" rIns="0" bIns="0" rtlCol="0" anchor="t"/>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Four rigorous hygiene steps ensured structural reliability prior to analytical modeling.</a:t>
            </a:r>
            <a:endParaRPr lang="en-US" sz="1700" dirty="0"/>
          </a:p>
        </p:txBody>
      </p:sp>
      <p:sp>
        <p:nvSpPr>
          <p:cNvPr id="5" name="Shape 3"/>
          <p:cNvSpPr/>
          <p:nvPr/>
        </p:nvSpPr>
        <p:spPr>
          <a:xfrm>
            <a:off x="609585" y="2569071"/>
            <a:ext cx="2647884" cy="3131641"/>
          </a:xfrm>
          <a:prstGeom prst="rect">
            <a:avLst/>
          </a:prstGeom>
          <a:noFill/>
          <a:ln w="25399">
            <a:solidFill>
              <a:srgbClr val="CDD0D6"/>
            </a:solidFill>
            <a:prstDash val="solid"/>
          </a:ln>
        </p:spPr>
      </p:sp>
      <p:sp>
        <p:nvSpPr>
          <p:cNvPr id="6" name="Text 4"/>
          <p:cNvSpPr/>
          <p:nvPr/>
        </p:nvSpPr>
        <p:spPr>
          <a:xfrm>
            <a:off x="838179" y="2797671"/>
            <a:ext cx="839568"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Assistant SemiBold" pitchFamily="34" charset="0"/>
                <a:ea typeface="Assistant SemiBold" pitchFamily="34" charset="-122"/>
                <a:cs typeface="Assistant SemiBold" pitchFamily="34" charset="-120"/>
              </a:rPr>
              <a:t>01</a:t>
            </a:r>
            <a:endParaRPr lang="en-US" sz="1850" dirty="0"/>
          </a:p>
        </p:txBody>
      </p:sp>
      <p:sp>
        <p:nvSpPr>
          <p:cNvPr id="7" name="Shape 5"/>
          <p:cNvSpPr/>
          <p:nvPr/>
        </p:nvSpPr>
        <p:spPr>
          <a:xfrm>
            <a:off x="634984" y="3121521"/>
            <a:ext cx="2597085" cy="19050"/>
          </a:xfrm>
          <a:prstGeom prst="rect">
            <a:avLst/>
          </a:prstGeom>
          <a:solidFill>
            <a:srgbClr val="0E7C86"/>
          </a:solidFill>
          <a:ln/>
        </p:spPr>
      </p:sp>
      <p:sp>
        <p:nvSpPr>
          <p:cNvPr id="8" name="Text 6"/>
          <p:cNvSpPr/>
          <p:nvPr/>
        </p:nvSpPr>
        <p:spPr>
          <a:xfrm>
            <a:off x="838179" y="3301167"/>
            <a:ext cx="2190695"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Data ingestion &amp; inspection</a:t>
            </a:r>
            <a:endParaRPr lang="en-US" sz="1800" dirty="0"/>
          </a:p>
        </p:txBody>
      </p:sp>
      <p:sp>
        <p:nvSpPr>
          <p:cNvPr id="9" name="Text 7"/>
          <p:cNvSpPr/>
          <p:nvPr/>
        </p:nvSpPr>
        <p:spPr>
          <a:xfrm>
            <a:off x="838179" y="4090988"/>
            <a:ext cx="2190695" cy="110490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Loaded the transactional data with pandas and reviewed structure with </a:t>
            </a:r>
            <a:pPr algn="l" indent="0" marL="0">
              <a:lnSpc>
                <a:spcPct val="125000"/>
              </a:lnSpc>
              <a:buNone/>
            </a:pPr>
            <a:r>
              <a:rPr lang="en-US" sz="1450" i="1" dirty="0">
                <a:solidFill>
                  <a:srgbClr val="3A4756"/>
                </a:solidFill>
                <a:latin typeface="Assistant" pitchFamily="34" charset="0"/>
                <a:ea typeface="Assistant" pitchFamily="34" charset="-122"/>
                <a:cs typeface="Assistant" pitchFamily="34" charset="-120"/>
              </a:rPr>
              <a:t>info()</a:t>
            </a:r>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 and </a:t>
            </a:r>
            <a:pPr algn="l" indent="0" marL="0">
              <a:lnSpc>
                <a:spcPct val="125000"/>
              </a:lnSpc>
              <a:buNone/>
            </a:pPr>
            <a:r>
              <a:rPr lang="en-US" sz="1450" i="1" dirty="0">
                <a:solidFill>
                  <a:srgbClr val="3A4756"/>
                </a:solidFill>
                <a:latin typeface="Assistant" pitchFamily="34" charset="0"/>
                <a:ea typeface="Assistant" pitchFamily="34" charset="-122"/>
                <a:cs typeface="Assistant" pitchFamily="34" charset="-120"/>
              </a:rPr>
              <a:t>describe()</a:t>
            </a:r>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a:t>
            </a:r>
            <a:endParaRPr lang="en-US" sz="1450" dirty="0"/>
          </a:p>
        </p:txBody>
      </p:sp>
      <p:sp>
        <p:nvSpPr>
          <p:cNvPr id="10" name="Shape 8"/>
          <p:cNvSpPr/>
          <p:nvPr/>
        </p:nvSpPr>
        <p:spPr>
          <a:xfrm>
            <a:off x="3384465" y="2569071"/>
            <a:ext cx="2647884" cy="3131641"/>
          </a:xfrm>
          <a:prstGeom prst="rect">
            <a:avLst/>
          </a:prstGeom>
          <a:noFill/>
          <a:ln w="25399">
            <a:solidFill>
              <a:srgbClr val="CDD0D6"/>
            </a:solidFill>
            <a:prstDash val="solid"/>
          </a:ln>
        </p:spPr>
      </p:sp>
      <p:sp>
        <p:nvSpPr>
          <p:cNvPr id="11" name="Text 9"/>
          <p:cNvSpPr/>
          <p:nvPr/>
        </p:nvSpPr>
        <p:spPr>
          <a:xfrm>
            <a:off x="3613060" y="2797671"/>
            <a:ext cx="849787"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Assistant SemiBold" pitchFamily="34" charset="0"/>
                <a:ea typeface="Assistant SemiBold" pitchFamily="34" charset="-122"/>
                <a:cs typeface="Assistant SemiBold" pitchFamily="34" charset="-120"/>
              </a:rPr>
              <a:t>02</a:t>
            </a:r>
            <a:endParaRPr lang="en-US" sz="1850" dirty="0"/>
          </a:p>
        </p:txBody>
      </p:sp>
      <p:sp>
        <p:nvSpPr>
          <p:cNvPr id="12" name="Shape 10"/>
          <p:cNvSpPr/>
          <p:nvPr/>
        </p:nvSpPr>
        <p:spPr>
          <a:xfrm>
            <a:off x="3409865" y="3121521"/>
            <a:ext cx="2597085" cy="19050"/>
          </a:xfrm>
          <a:prstGeom prst="rect">
            <a:avLst/>
          </a:prstGeom>
          <a:solidFill>
            <a:srgbClr val="0E7C86"/>
          </a:solidFill>
          <a:ln/>
        </p:spPr>
      </p:sp>
      <p:sp>
        <p:nvSpPr>
          <p:cNvPr id="13" name="Text 11"/>
          <p:cNvSpPr/>
          <p:nvPr/>
        </p:nvSpPr>
        <p:spPr>
          <a:xfrm>
            <a:off x="3613060" y="3301167"/>
            <a:ext cx="2190695"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Category-based imputation</a:t>
            </a:r>
            <a:endParaRPr lang="en-US" sz="1800" dirty="0"/>
          </a:p>
        </p:txBody>
      </p:sp>
      <p:sp>
        <p:nvSpPr>
          <p:cNvPr id="14" name="Text 12"/>
          <p:cNvSpPr/>
          <p:nvPr/>
        </p:nvSpPr>
        <p:spPr>
          <a:xfrm>
            <a:off x="3613060" y="4090988"/>
            <a:ext cx="2190695" cy="1381125"/>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Checked missing values and imputed 37 missing review ratings with the median rating for each product category.</a:t>
            </a:r>
            <a:endParaRPr lang="en-US" sz="1450" dirty="0"/>
          </a:p>
        </p:txBody>
      </p:sp>
      <p:sp>
        <p:nvSpPr>
          <p:cNvPr id="15" name="Shape 13"/>
          <p:cNvSpPr/>
          <p:nvPr/>
        </p:nvSpPr>
        <p:spPr>
          <a:xfrm>
            <a:off x="6159346" y="2569071"/>
            <a:ext cx="2647884" cy="3131641"/>
          </a:xfrm>
          <a:prstGeom prst="rect">
            <a:avLst/>
          </a:prstGeom>
          <a:noFill/>
          <a:ln w="25399">
            <a:solidFill>
              <a:srgbClr val="CDD0D6"/>
            </a:solidFill>
            <a:prstDash val="solid"/>
          </a:ln>
        </p:spPr>
      </p:sp>
      <p:sp>
        <p:nvSpPr>
          <p:cNvPr id="16" name="Text 14"/>
          <p:cNvSpPr/>
          <p:nvPr/>
        </p:nvSpPr>
        <p:spPr>
          <a:xfrm>
            <a:off x="6387940" y="2797671"/>
            <a:ext cx="849787"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Assistant SemiBold" pitchFamily="34" charset="0"/>
                <a:ea typeface="Assistant SemiBold" pitchFamily="34" charset="-122"/>
                <a:cs typeface="Assistant SemiBold" pitchFamily="34" charset="-120"/>
              </a:rPr>
              <a:t>03</a:t>
            </a:r>
            <a:endParaRPr lang="en-US" sz="1850" dirty="0"/>
          </a:p>
        </p:txBody>
      </p:sp>
      <p:sp>
        <p:nvSpPr>
          <p:cNvPr id="17" name="Shape 15"/>
          <p:cNvSpPr/>
          <p:nvPr/>
        </p:nvSpPr>
        <p:spPr>
          <a:xfrm>
            <a:off x="6184745" y="3121521"/>
            <a:ext cx="2597085" cy="19050"/>
          </a:xfrm>
          <a:prstGeom prst="rect">
            <a:avLst/>
          </a:prstGeom>
          <a:solidFill>
            <a:srgbClr val="0E7C86"/>
          </a:solidFill>
          <a:ln/>
        </p:spPr>
      </p:sp>
      <p:sp>
        <p:nvSpPr>
          <p:cNvPr id="18" name="Text 16"/>
          <p:cNvSpPr/>
          <p:nvPr/>
        </p:nvSpPr>
        <p:spPr>
          <a:xfrm>
            <a:off x="6387940" y="3301167"/>
            <a:ext cx="2190695"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Schema standardization</a:t>
            </a:r>
            <a:endParaRPr lang="en-US" sz="1800" dirty="0"/>
          </a:p>
        </p:txBody>
      </p:sp>
      <p:sp>
        <p:nvSpPr>
          <p:cNvPr id="19" name="Text 17"/>
          <p:cNvSpPr/>
          <p:nvPr/>
        </p:nvSpPr>
        <p:spPr>
          <a:xfrm>
            <a:off x="6387940" y="4090988"/>
            <a:ext cx="2190695" cy="110490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Standardized column names into snake case for cleaner analysis, readability, and documentation.</a:t>
            </a:r>
            <a:endParaRPr lang="en-US" sz="1450" dirty="0"/>
          </a:p>
        </p:txBody>
      </p:sp>
      <p:sp>
        <p:nvSpPr>
          <p:cNvPr id="20" name="Shape 18"/>
          <p:cNvSpPr/>
          <p:nvPr/>
        </p:nvSpPr>
        <p:spPr>
          <a:xfrm>
            <a:off x="8934226" y="2569071"/>
            <a:ext cx="2647884" cy="3131641"/>
          </a:xfrm>
          <a:prstGeom prst="rect">
            <a:avLst/>
          </a:prstGeom>
          <a:noFill/>
          <a:ln w="25399">
            <a:solidFill>
              <a:srgbClr val="CDD0D6"/>
            </a:solidFill>
            <a:prstDash val="solid"/>
          </a:ln>
        </p:spPr>
      </p:sp>
      <p:sp>
        <p:nvSpPr>
          <p:cNvPr id="21" name="Text 19"/>
          <p:cNvSpPr/>
          <p:nvPr/>
        </p:nvSpPr>
        <p:spPr>
          <a:xfrm>
            <a:off x="9162821" y="2797671"/>
            <a:ext cx="849787"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Assistant SemiBold" pitchFamily="34" charset="0"/>
                <a:ea typeface="Assistant SemiBold" pitchFamily="34" charset="-122"/>
                <a:cs typeface="Assistant SemiBold" pitchFamily="34" charset="-120"/>
              </a:rPr>
              <a:t>04</a:t>
            </a:r>
            <a:endParaRPr lang="en-US" sz="1850" dirty="0"/>
          </a:p>
        </p:txBody>
      </p:sp>
      <p:sp>
        <p:nvSpPr>
          <p:cNvPr id="22" name="Shape 20"/>
          <p:cNvSpPr/>
          <p:nvPr/>
        </p:nvSpPr>
        <p:spPr>
          <a:xfrm>
            <a:off x="8959626" y="3121521"/>
            <a:ext cx="2597085" cy="19050"/>
          </a:xfrm>
          <a:prstGeom prst="rect">
            <a:avLst/>
          </a:prstGeom>
          <a:solidFill>
            <a:srgbClr val="0E7C86"/>
          </a:solidFill>
          <a:ln/>
        </p:spPr>
      </p:sp>
      <p:sp>
        <p:nvSpPr>
          <p:cNvPr id="23" name="Text 21"/>
          <p:cNvSpPr/>
          <p:nvPr/>
        </p:nvSpPr>
        <p:spPr>
          <a:xfrm>
            <a:off x="9162821" y="3301167"/>
            <a:ext cx="2190695"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Redundancy reduction</a:t>
            </a:r>
            <a:endParaRPr lang="en-US" sz="1800" dirty="0"/>
          </a:p>
        </p:txBody>
      </p:sp>
      <p:sp>
        <p:nvSpPr>
          <p:cNvPr id="24" name="Text 22"/>
          <p:cNvSpPr/>
          <p:nvPr/>
        </p:nvSpPr>
        <p:spPr>
          <a:xfrm>
            <a:off x="9162821" y="3771007"/>
            <a:ext cx="2190695" cy="110490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Verified that promo-code use duplicated discount information and dropped the redundant field.</a:t>
            </a:r>
            <a:endParaRPr lang="en-US" sz="1450" dirty="0"/>
          </a:p>
        </p:txBody>
      </p:sp>
      <p:sp>
        <p:nvSpPr>
          <p:cNvPr id="25" name="Text 23"/>
          <p:cNvSpPr/>
          <p:nvPr/>
        </p:nvSpPr>
        <p:spPr>
          <a:xfrm>
            <a:off x="609585" y="5972175"/>
            <a:ext cx="10972526" cy="330200"/>
          </a:xfrm>
          <a:prstGeom prst="rect">
            <a:avLst/>
          </a:prstGeom>
          <a:noFill/>
          <a:ln/>
        </p:spPr>
        <p:txBody>
          <a:bodyPr wrap="square" lIns="0" tIns="101598" rIns="0" bIns="0" rtlCol="0" anchor="t">
            <a:normAutofit/>
          </a:bodyPr>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Standardization and deduplication prevented skewed frequency coefficients while preserving all 3,900 valid transactional instances.</a:t>
            </a:r>
            <a:endParaRPr lang="en-US" sz="1250" dirty="0"/>
          </a:p>
        </p:txBody>
      </p:sp>
      <p:sp>
        <p:nvSpPr>
          <p:cNvPr id="26" name="Text 24"/>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2396" y="127952"/>
            <a:ext cx="7569011" cy="205680"/>
          </a:xfrm>
          <a:prstGeom prst="rect">
            <a:avLst/>
          </a:prstGeom>
          <a:noFill/>
          <a:ln/>
        </p:spPr>
        <p:txBody>
          <a:bodyPr wrap="none" lIns="0" tIns="0" rIns="0" bIns="0" rtlCol="0" anchor="t"/>
          <a:lstStyle/>
          <a:p>
            <a:pPr algn="l" indent="0" marL="0">
              <a:lnSpc>
                <a:spcPct val="113000"/>
              </a:lnSpc>
              <a:buNone/>
            </a:pPr>
            <a:r>
              <a:rPr lang="en-US" sz="1200" dirty="0">
                <a:solidFill>
                  <a:srgbClr val="536270"/>
                </a:solidFill>
                <a:latin typeface="Assistant SemiBold" pitchFamily="34" charset="0"/>
                <a:ea typeface="Assistant SemiBold" pitchFamily="34" charset="-122"/>
                <a:cs typeface="Assistant SemiBold" pitchFamily="34" charset="-120"/>
              </a:rPr>
              <a:t>ANALYTICAL TRANSFORMATION</a:t>
            </a:r>
            <a:endParaRPr lang="en-US" sz="1200" dirty="0"/>
          </a:p>
        </p:txBody>
      </p:sp>
      <p:sp>
        <p:nvSpPr>
          <p:cNvPr id="3" name="Text 1"/>
          <p:cNvSpPr/>
          <p:nvPr/>
        </p:nvSpPr>
        <p:spPr>
          <a:xfrm>
            <a:off x="152396" y="428024"/>
            <a:ext cx="7264218" cy="93464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Feature engineering created business-ready dimensions</a:t>
            </a:r>
            <a:endParaRPr lang="en-US" sz="3200" dirty="0"/>
          </a:p>
        </p:txBody>
      </p:sp>
      <p:sp>
        <p:nvSpPr>
          <p:cNvPr id="4" name="Text 2"/>
          <p:cNvSpPr/>
          <p:nvPr/>
        </p:nvSpPr>
        <p:spPr>
          <a:xfrm>
            <a:off x="152396" y="1568946"/>
            <a:ext cx="7264218" cy="762000"/>
          </a:xfrm>
          <a:prstGeom prst="rect">
            <a:avLst/>
          </a:prstGeom>
          <a:noFill/>
          <a:ln/>
        </p:spPr>
        <p:txBody>
          <a:bodyPr wrap="square" lIns="0" tIns="0" rIns="0" bIns="0" rtlCol="0" anchor="t">
            <a:normAutofit/>
          </a:bodyPr>
          <a:lstStyle/>
          <a:p>
            <a:pPr algn="l" indent="0" marL="0">
              <a:lnSpc>
                <a:spcPct val="125000"/>
              </a:lnSpc>
              <a:buNone/>
            </a:pPr>
            <a:r>
              <a:rPr lang="en-US" sz="2000" dirty="0">
                <a:solidFill>
                  <a:srgbClr val="3A4756"/>
                </a:solidFill>
                <a:latin typeface="Assistant" pitchFamily="34" charset="0"/>
                <a:ea typeface="Assistant" pitchFamily="34" charset="-122"/>
                <a:cs typeface="Assistant" pitchFamily="34" charset="-120"/>
              </a:rPr>
              <a:t>Transforming raw log values into granular, queryable relational structures.</a:t>
            </a:r>
            <a:endParaRPr lang="en-US" sz="2000" dirty="0"/>
          </a:p>
        </p:txBody>
      </p:sp>
      <p:sp>
        <p:nvSpPr>
          <p:cNvPr id="5" name="Text 3"/>
          <p:cNvSpPr/>
          <p:nvPr/>
        </p:nvSpPr>
        <p:spPr>
          <a:xfrm>
            <a:off x="152396" y="2530336"/>
            <a:ext cx="7264218"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Demographic bucketing</a:t>
            </a:r>
            <a:endParaRPr lang="en-US" sz="1800" dirty="0"/>
          </a:p>
        </p:txBody>
      </p:sp>
      <p:sp>
        <p:nvSpPr>
          <p:cNvPr id="6" name="Text 4"/>
          <p:cNvSpPr/>
          <p:nvPr/>
        </p:nvSpPr>
        <p:spPr>
          <a:xfrm>
            <a:off x="152396" y="3000177"/>
            <a:ext cx="7264218" cy="55245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Created age groups to compare revenue across meaningful customer segments (Young Adult, Middle-aged, Adult, Senior).</a:t>
            </a:r>
            <a:endParaRPr lang="en-US" sz="1450" dirty="0"/>
          </a:p>
        </p:txBody>
      </p:sp>
      <p:sp>
        <p:nvSpPr>
          <p:cNvPr id="7" name="Text 5"/>
          <p:cNvSpPr/>
          <p:nvPr/>
        </p:nvSpPr>
        <p:spPr>
          <a:xfrm>
            <a:off x="152396" y="4015542"/>
            <a:ext cx="7264218"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Temporal recency normalization</a:t>
            </a:r>
            <a:endParaRPr lang="en-US" sz="1800" dirty="0"/>
          </a:p>
        </p:txBody>
      </p:sp>
      <p:sp>
        <p:nvSpPr>
          <p:cNvPr id="8" name="Text 6"/>
          <p:cNvSpPr/>
          <p:nvPr/>
        </p:nvSpPr>
        <p:spPr>
          <a:xfrm>
            <a:off x="152396" y="4485382"/>
            <a:ext cx="7264218" cy="55245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Created purchase-frequency-days from the purchase-frequency field to establish quantifiable cadences.</a:t>
            </a:r>
            <a:endParaRPr lang="en-US" sz="1450" dirty="0"/>
          </a:p>
        </p:txBody>
      </p:sp>
      <p:sp>
        <p:nvSpPr>
          <p:cNvPr id="9" name="Text 7"/>
          <p:cNvSpPr/>
          <p:nvPr/>
        </p:nvSpPr>
        <p:spPr>
          <a:xfrm>
            <a:off x="152396" y="5500747"/>
            <a:ext cx="7264218" cy="319980"/>
          </a:xfrm>
          <a:prstGeom prst="rect">
            <a:avLst/>
          </a:prstGeom>
          <a:noFill/>
          <a:ln/>
        </p:spPr>
        <p:txBody>
          <a:bodyPr wrap="none" lIns="0" tIns="0" rIns="0" bIns="0" rtlCol="0" anchor="t"/>
          <a:lstStyle/>
          <a:p>
            <a:pPr algn="l" indent="0" marL="0">
              <a:lnSpc>
                <a:spcPct val="117000"/>
              </a:lnSpc>
              <a:buNone/>
            </a:pPr>
            <a:r>
              <a:rPr lang="en-US" sz="1800" dirty="0">
                <a:solidFill>
                  <a:srgbClr val="1B2632"/>
                </a:solidFill>
                <a:latin typeface="Assistant" pitchFamily="34" charset="0"/>
                <a:ea typeface="Assistant" pitchFamily="34" charset="-122"/>
                <a:cs typeface="Assistant" pitchFamily="34" charset="-120"/>
              </a:rPr>
              <a:t>Relational database deployment</a:t>
            </a:r>
            <a:endParaRPr lang="en-US" sz="1800" dirty="0"/>
          </a:p>
        </p:txBody>
      </p:sp>
      <p:sp>
        <p:nvSpPr>
          <p:cNvPr id="10" name="Text 8"/>
          <p:cNvSpPr/>
          <p:nvPr/>
        </p:nvSpPr>
        <p:spPr>
          <a:xfrm>
            <a:off x="152396" y="5970588"/>
            <a:ext cx="7264218" cy="552450"/>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Loaded the cleaned DataFrame into PostgreSQL so the business questions could be answered with repeatable SQL queries.</a:t>
            </a:r>
            <a:endParaRPr lang="en-US" sz="1450" dirty="0"/>
          </a:p>
        </p:txBody>
      </p:sp>
      <p:pic>
        <p:nvPicPr>
          <p:cNvPr id="11"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12" name="Shape 9"/>
          <p:cNvSpPr/>
          <p:nvPr/>
        </p:nvSpPr>
        <p:spPr>
          <a:xfrm>
            <a:off x="152396" y="3774877"/>
            <a:ext cx="7264218" cy="12700"/>
          </a:xfrm>
          <a:prstGeom prst="rect">
            <a:avLst/>
          </a:prstGeom>
          <a:solidFill>
            <a:srgbClr val="A7B3BE"/>
          </a:solidFill>
          <a:ln/>
        </p:spPr>
      </p:sp>
      <p:sp>
        <p:nvSpPr>
          <p:cNvPr id="13" name="Shape 10"/>
          <p:cNvSpPr/>
          <p:nvPr/>
        </p:nvSpPr>
        <p:spPr>
          <a:xfrm>
            <a:off x="152396" y="5260082"/>
            <a:ext cx="7264218" cy="12700"/>
          </a:xfrm>
          <a:prstGeom prst="rect">
            <a:avLst/>
          </a:prstGeom>
          <a:solidFill>
            <a:srgbClr val="A7B3BE"/>
          </a:solidFill>
          <a:ln/>
        </p:spPr>
      </p:sp>
      <p:sp>
        <p:nvSpPr>
          <p:cNvPr id="14" name="Text 11"/>
          <p:cNvSpPr/>
          <p:nvPr/>
        </p:nvSpPr>
        <p:spPr>
          <a:xfrm>
            <a:off x="199722" y="6448425"/>
            <a:ext cx="758310"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0553"/>
            <a:ext cx="11582110" cy="205680"/>
          </a:xfrm>
          <a:prstGeom prst="rect">
            <a:avLst/>
          </a:prstGeom>
          <a:noFill/>
          <a:ln/>
        </p:spPr>
        <p:txBody>
          <a:bodyPr wrap="none" lIns="0" tIns="0" rIns="0" bIns="0" rtlCol="0" anchor="t"/>
          <a:lstStyle/>
          <a:p>
            <a:pPr algn="l" indent="0" marL="0">
              <a:lnSpc>
                <a:spcPct val="113000"/>
              </a:lnSpc>
              <a:buNone/>
            </a:pPr>
            <a:r>
              <a:rPr lang="en-US" sz="1200" dirty="0">
                <a:solidFill>
                  <a:srgbClr val="536270"/>
                </a:solidFill>
                <a:latin typeface="Assistant SemiBold" pitchFamily="34" charset="0"/>
                <a:ea typeface="Assistant SemiBold" pitchFamily="34" charset="-122"/>
                <a:cs typeface="Assistant SemiBold" pitchFamily="34" charset="-120"/>
              </a:rPr>
              <a:t>GENDER SEGMENTATION</a:t>
            </a:r>
            <a:endParaRPr lang="en-US" sz="1200" dirty="0"/>
          </a:p>
        </p:txBody>
      </p:sp>
      <p:sp>
        <p:nvSpPr>
          <p:cNvPr id="3" name="Text 1"/>
          <p:cNvSpPr/>
          <p:nvPr/>
        </p:nvSpPr>
        <p:spPr>
          <a:xfrm>
            <a:off x="609585" y="910624"/>
            <a:ext cx="10972526" cy="93464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Revenue is concentrated in male customers, but the comparison is straightforward</a:t>
            </a:r>
            <a:endParaRPr lang="en-US" sz="3200" dirty="0"/>
          </a:p>
        </p:txBody>
      </p:sp>
      <p:pic>
        <p:nvPicPr>
          <p:cNvPr id="4" name="Image 0" descr="preencoded.png">    </p:cNvPr>
          <p:cNvPicPr>
            <a:picLocks noChangeAspect="1"/>
          </p:cNvPicPr>
          <p:nvPr/>
        </p:nvPicPr>
        <p:blipFill>
          <a:blip r:embed="rId1"/>
          <a:stretch>
            <a:fillRect/>
          </a:stretch>
        </p:blipFill>
        <p:spPr>
          <a:xfrm>
            <a:off x="609585" y="2395736"/>
            <a:ext cx="6095848" cy="2794000"/>
          </a:xfrm>
          <a:prstGeom prst="rect">
            <a:avLst/>
          </a:prstGeom>
        </p:spPr>
      </p:pic>
      <p:sp>
        <p:nvSpPr>
          <p:cNvPr id="5" name="Text 2"/>
          <p:cNvSpPr/>
          <p:nvPr/>
        </p:nvSpPr>
        <p:spPr>
          <a:xfrm>
            <a:off x="609585" y="5353249"/>
            <a:ext cx="6309262" cy="552450"/>
          </a:xfrm>
          <a:prstGeom prst="rect">
            <a:avLst/>
          </a:prstGeom>
          <a:noFill/>
          <a:ln/>
        </p:spPr>
        <p:txBody>
          <a:bodyPr wrap="square" lIns="0" tIns="101598" rIns="0" bIns="0" rtlCol="0" anchor="t">
            <a:normAutofit/>
          </a:bodyPr>
          <a:lstStyle/>
          <a:p>
            <a:pPr algn="l" indent="0" marL="0">
              <a:lnSpc>
                <a:spcPct val="117000"/>
              </a:lnSpc>
              <a:buNone/>
            </a:pPr>
            <a:r>
              <a:rPr lang="en-US" sz="1250" dirty="0">
                <a:solidFill>
                  <a:srgbClr val="536270"/>
                </a:solidFill>
                <a:latin typeface="Assistant" pitchFamily="34" charset="0"/>
                <a:ea typeface="Assistant" pitchFamily="34" charset="-122"/>
                <a:cs typeface="Assistant" pitchFamily="34" charset="-120"/>
              </a:rPr>
              <a:t>Exact SQL revenue totals: Male $157,890 across 2,652 buyers; Female $75,191 across 1,248 buyers.</a:t>
            </a:r>
            <a:endParaRPr lang="en-US" sz="1250" dirty="0"/>
          </a:p>
        </p:txBody>
      </p:sp>
      <p:sp>
        <p:nvSpPr>
          <p:cNvPr id="6" name="Shape 3"/>
          <p:cNvSpPr/>
          <p:nvPr/>
        </p:nvSpPr>
        <p:spPr>
          <a:xfrm>
            <a:off x="7375936" y="2057598"/>
            <a:ext cx="4206174" cy="4184650"/>
          </a:xfrm>
          <a:prstGeom prst="rect">
            <a:avLst/>
          </a:prstGeom>
          <a:solidFill>
            <a:srgbClr val="E4EAEF"/>
          </a:solidFill>
          <a:ln/>
        </p:spPr>
      </p:sp>
      <p:sp>
        <p:nvSpPr>
          <p:cNvPr id="7" name="Text 4"/>
          <p:cNvSpPr/>
          <p:nvPr/>
        </p:nvSpPr>
        <p:spPr>
          <a:xfrm>
            <a:off x="7629929" y="2287786"/>
            <a:ext cx="3952181" cy="222250"/>
          </a:xfrm>
          <a:prstGeom prst="rect">
            <a:avLst/>
          </a:prstGeom>
          <a:noFill/>
          <a:ln/>
        </p:spPr>
        <p:txBody>
          <a:bodyPr wrap="none" lIns="0" tIns="0" rIns="0" bIns="0" rtlCol="0" anchor="t"/>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AVERAGE VALUE PER TRANSACTION</a:t>
            </a:r>
            <a:endParaRPr lang="en-US" sz="1250" dirty="0"/>
          </a:p>
        </p:txBody>
      </p:sp>
      <p:sp>
        <p:nvSpPr>
          <p:cNvPr id="8" name="Text 5"/>
          <p:cNvSpPr/>
          <p:nvPr/>
        </p:nvSpPr>
        <p:spPr>
          <a:xfrm>
            <a:off x="7629929" y="2724726"/>
            <a:ext cx="3698187" cy="1117600"/>
          </a:xfrm>
          <a:prstGeom prst="rect">
            <a:avLst/>
          </a:prstGeom>
          <a:noFill/>
          <a:ln/>
        </p:spPr>
        <p:txBody>
          <a:bodyPr wrap="square" lIns="0" tIns="0" rIns="0" bIns="0" rtlCol="0" anchor="t">
            <a:normAutofit/>
          </a:bodyPr>
          <a:lstStyle/>
          <a:p>
            <a:pPr algn="l" indent="0" marL="0">
              <a:lnSpc>
                <a:spcPct val="92000"/>
              </a:lnSpc>
              <a:buNone/>
            </a:pPr>
            <a:r>
              <a:rPr lang="en-US" sz="4000" dirty="0">
                <a:solidFill>
                  <a:srgbClr val="3A4756"/>
                </a:solidFill>
                <a:latin typeface="Rubik SemiBold" pitchFamily="34" charset="0"/>
                <a:ea typeface="Rubik SemiBold" pitchFamily="34" charset="-122"/>
                <a:cs typeface="Rubik SemiBold" pitchFamily="34" charset="-120"/>
              </a:rPr>
              <a:t>$59.54 </a:t>
            </a:r>
            <a:pPr algn="l" indent="0" marL="0">
              <a:lnSpc>
                <a:spcPct val="92000"/>
              </a:lnSpc>
              <a:buNone/>
            </a:pPr>
            <a:r>
              <a:rPr lang="en-US" sz="1600" dirty="0">
                <a:solidFill>
                  <a:srgbClr val="3A4756"/>
                </a:solidFill>
                <a:latin typeface="Rubik SemiBold" pitchFamily="34" charset="0"/>
                <a:ea typeface="Rubik SemiBold" pitchFamily="34" charset="-122"/>
                <a:cs typeface="Rubik SemiBold" pitchFamily="34" charset="-120"/>
              </a:rPr>
              <a:t>vs</a:t>
            </a:r>
            <a:pPr algn="l" indent="0" marL="0">
              <a:lnSpc>
                <a:spcPct val="92000"/>
              </a:lnSpc>
              <a:buNone/>
            </a:pPr>
            <a:r>
              <a:rPr lang="en-US" sz="4000" dirty="0">
                <a:solidFill>
                  <a:srgbClr val="3A4756"/>
                </a:solidFill>
                <a:latin typeface="Rubik SemiBold" pitchFamily="34" charset="0"/>
                <a:ea typeface="Rubik SemiBold" pitchFamily="34" charset="-122"/>
                <a:cs typeface="Rubik SemiBold" pitchFamily="34" charset="-120"/>
              </a:rPr>
              <a:t> $60.25</a:t>
            </a:r>
            <a:endParaRPr lang="en-US" sz="4000" dirty="0"/>
          </a:p>
        </p:txBody>
      </p:sp>
      <p:sp>
        <p:nvSpPr>
          <p:cNvPr id="9" name="Text 6"/>
          <p:cNvSpPr/>
          <p:nvPr/>
        </p:nvSpPr>
        <p:spPr>
          <a:xfrm>
            <a:off x="7629929" y="4037211"/>
            <a:ext cx="3952181" cy="222250"/>
          </a:xfrm>
          <a:prstGeom prst="rect">
            <a:avLst/>
          </a:prstGeom>
          <a:noFill/>
          <a:ln/>
        </p:spPr>
        <p:txBody>
          <a:bodyPr wrap="none" lIns="0" tIns="0" rIns="0" bIns="0" rtlCol="0" anchor="t"/>
          <a:lstStyle/>
          <a:p>
            <a:pPr algn="l" indent="0" marL="0">
              <a:lnSpc>
                <a:spcPct val="117000"/>
              </a:lnSpc>
              <a:buNone/>
            </a:pPr>
            <a:r>
              <a:rPr lang="en-US" sz="1250" dirty="0">
                <a:solidFill>
                  <a:srgbClr val="3A4756"/>
                </a:solidFill>
                <a:latin typeface="Assistant" pitchFamily="34" charset="0"/>
                <a:ea typeface="Assistant" pitchFamily="34" charset="-122"/>
                <a:cs typeface="Assistant" pitchFamily="34" charset="-120"/>
              </a:rPr>
              <a:t>Male avg ($59.54) vs Female avg ($60.25)</a:t>
            </a:r>
            <a:endParaRPr lang="en-US" sz="1250" dirty="0"/>
          </a:p>
        </p:txBody>
      </p:sp>
      <p:sp>
        <p:nvSpPr>
          <p:cNvPr id="10" name="Shape 7"/>
          <p:cNvSpPr/>
          <p:nvPr/>
        </p:nvSpPr>
        <p:spPr>
          <a:xfrm>
            <a:off x="7629929" y="4438848"/>
            <a:ext cx="3698187" cy="38100"/>
          </a:xfrm>
          <a:prstGeom prst="roundRect">
            <a:avLst>
              <a:gd name="adj" fmla="val 49999"/>
            </a:avLst>
          </a:prstGeom>
          <a:solidFill>
            <a:srgbClr val="A7B3BE"/>
          </a:solidFill>
          <a:ln/>
        </p:spPr>
      </p:sp>
      <p:sp>
        <p:nvSpPr>
          <p:cNvPr id="11" name="Text 8"/>
          <p:cNvSpPr/>
          <p:nvPr/>
        </p:nvSpPr>
        <p:spPr>
          <a:xfrm>
            <a:off x="7629929" y="4657923"/>
            <a:ext cx="3698187" cy="1381125"/>
          </a:xfrm>
          <a:prstGeom prst="rect">
            <a:avLst/>
          </a:prstGeom>
          <a:noFill/>
          <a:ln/>
        </p:spPr>
        <p:txBody>
          <a:bodyPr wrap="square" lIns="0" tIns="0" rIns="0" bIns="0" rtlCol="0" anchor="t">
            <a:normAutofit/>
          </a:bodyPr>
          <a:lstStyle/>
          <a:p>
            <a:pPr algn="l" indent="0" marL="0">
              <a:lnSpc>
                <a:spcPct val="125000"/>
              </a:lnSpc>
              <a:buNone/>
            </a:pPr>
            <a:r>
              <a:rPr lang="en-US" sz="1450" dirty="0">
                <a:solidFill>
                  <a:srgbClr val="3A4756"/>
                </a:solidFill>
                <a:latin typeface="Assistant" pitchFamily="34" charset="0"/>
                <a:ea typeface="Assistant" pitchFamily="34" charset="-122"/>
                <a:cs typeface="Assistant" pitchFamily="34" charset="-120"/>
              </a:rPr>
              <a:t>The revenue difference stems almost entirely from customer volume rather than individual willingness to spend. The result is useful as a baseline for segmentation, read alongside category, age, and purchase-frequency patterns.</a:t>
            </a:r>
            <a:endParaRPr lang="en-US" sz="1450" dirty="0"/>
          </a:p>
        </p:txBody>
      </p:sp>
      <p:sp>
        <p:nvSpPr>
          <p:cNvPr id="12" name="Text 9"/>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9218"/>
            <a:ext cx="10972526" cy="467320"/>
          </a:xfrm>
          <a:prstGeom prst="rect">
            <a:avLst/>
          </a:prstGeom>
          <a:noFill/>
          <a:ln/>
        </p:spPr>
        <p:txBody>
          <a:bodyPr wrap="none" lIns="0" tIns="0" rIns="0" bIns="0" rtlCol="0" anchor="t"/>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Discounts can coexist with high-value purchases</a:t>
            </a:r>
            <a:endParaRPr lang="en-US" sz="3200" dirty="0"/>
          </a:p>
        </p:txBody>
      </p:sp>
      <p:sp>
        <p:nvSpPr>
          <p:cNvPr id="3" name="Text 1"/>
          <p:cNvSpPr/>
          <p:nvPr/>
        </p:nvSpPr>
        <p:spPr>
          <a:xfrm>
            <a:off x="609585" y="3089930"/>
            <a:ext cx="3505112" cy="1158180"/>
          </a:xfrm>
          <a:prstGeom prst="rect">
            <a:avLst/>
          </a:prstGeom>
          <a:noFill/>
          <a:ln/>
        </p:spPr>
        <p:txBody>
          <a:bodyPr wrap="none" lIns="0" tIns="0" rIns="0" bIns="0" rtlCol="0" anchor="t"/>
          <a:lstStyle/>
          <a:p>
            <a:pPr algn="l" indent="0" marL="0">
              <a:lnSpc>
                <a:spcPct val="79000"/>
              </a:lnSpc>
              <a:buNone/>
            </a:pPr>
            <a:r>
              <a:rPr lang="en-US" sz="9600" spc="-192" kern="100" dirty="0">
                <a:solidFill>
                  <a:srgbClr val="0E7C86"/>
                </a:solidFill>
                <a:latin typeface="Rubik ExtraBold" pitchFamily="34" charset="0"/>
                <a:ea typeface="Rubik ExtraBold" pitchFamily="34" charset="-122"/>
                <a:cs typeface="Rubik ExtraBold" pitchFamily="34" charset="-120"/>
              </a:rPr>
              <a:t>839</a:t>
            </a:r>
            <a:endParaRPr lang="en-US" sz="9600" dirty="0"/>
          </a:p>
        </p:txBody>
      </p:sp>
      <p:sp>
        <p:nvSpPr>
          <p:cNvPr id="4" name="Text 2"/>
          <p:cNvSpPr/>
          <p:nvPr/>
        </p:nvSpPr>
        <p:spPr>
          <a:xfrm>
            <a:off x="609585" y="4270607"/>
            <a:ext cx="3505112" cy="335260"/>
          </a:xfrm>
          <a:prstGeom prst="rect">
            <a:avLst/>
          </a:prstGeom>
          <a:noFill/>
          <a:ln/>
        </p:spPr>
        <p:txBody>
          <a:bodyPr wrap="none" lIns="0" tIns="0" rIns="0" bIns="0" rtlCol="0" anchor="t"/>
          <a:lstStyle/>
          <a:p>
            <a:pPr algn="l" indent="0" marL="0">
              <a:lnSpc>
                <a:spcPct val="92000"/>
              </a:lnSpc>
              <a:buNone/>
            </a:pPr>
            <a:r>
              <a:rPr lang="en-US" sz="2400" dirty="0">
                <a:solidFill>
                  <a:srgbClr val="1B2632"/>
                </a:solidFill>
                <a:latin typeface="Assistant" pitchFamily="34" charset="0"/>
                <a:ea typeface="Assistant" pitchFamily="34" charset="-122"/>
                <a:cs typeface="Assistant" pitchFamily="34" charset="-120"/>
              </a:rPr>
              <a:t>customers</a:t>
            </a:r>
            <a:endParaRPr lang="en-US" sz="2400" dirty="0"/>
          </a:p>
        </p:txBody>
      </p:sp>
      <p:sp>
        <p:nvSpPr>
          <p:cNvPr id="5" name="Text 3"/>
          <p:cNvSpPr/>
          <p:nvPr/>
        </p:nvSpPr>
        <p:spPr>
          <a:xfrm>
            <a:off x="4571886" y="2583160"/>
            <a:ext cx="7010225" cy="2374900"/>
          </a:xfrm>
          <a:prstGeom prst="rect">
            <a:avLst/>
          </a:prstGeom>
          <a:noFill/>
          <a:ln/>
        </p:spPr>
        <p:txBody>
          <a:bodyPr wrap="square" lIns="0" tIns="0" rIns="0" bIns="0" rtlCol="0" anchor="t">
            <a:normAutofit/>
          </a:bodyPr>
          <a:lstStyle/>
          <a:p>
            <a:pPr algn="l" marL="345440" indent="-345440">
              <a:lnSpc>
                <a:spcPct val="125000"/>
              </a:lnSpc>
              <a:buSzPct val="100000"/>
              <a:buChar char="•"/>
            </a:pPr>
            <a:r>
              <a:rPr lang="en-US" sz="1700" dirty="0">
                <a:solidFill>
                  <a:srgbClr val="3A4756"/>
                </a:solidFill>
                <a:latin typeface="Assistant" pitchFamily="34" charset="0"/>
                <a:ea typeface="Assistant" pitchFamily="34" charset="-122"/>
                <a:cs typeface="Assistant" pitchFamily="34" charset="-120"/>
              </a:rPr>
              <a:t>839 customers used discounts and still spent above the average purchase amount, so discounts are not limited to low-value baskets.</a:t>
            </a:r>
            <a:endParaRPr lang="en-US" sz="1700" dirty="0"/>
          </a:p>
          <a:p>
            <a:pPr algn="l" marL="345440" indent="-345440">
              <a:lnSpc>
                <a:spcPct val="125000"/>
              </a:lnSpc>
              <a:buSzPct val="100000"/>
              <a:buChar char="•"/>
            </a:pPr>
            <a:r>
              <a:rPr lang="en-US" sz="1700" dirty="0">
                <a:solidFill>
                  <a:srgbClr val="3A4756"/>
                </a:solidFill>
                <a:latin typeface="Assistant" pitchFamily="34" charset="0"/>
                <a:ea typeface="Assistant" pitchFamily="34" charset="-122"/>
                <a:cs typeface="Assistant" pitchFamily="34" charset="-120"/>
              </a:rPr>
              <a:t>Most discount-dependent products: Hat 50.00%, Sneakers 49.66%, Coat 49.07%, Sweater 48.17%, and Pants 47.37%.</a:t>
            </a:r>
            <a:endParaRPr lang="en-US" sz="1700" dirty="0"/>
          </a:p>
          <a:p>
            <a:pPr algn="l" marL="345440" indent="-345440">
              <a:lnSpc>
                <a:spcPct val="125000"/>
              </a:lnSpc>
              <a:buSzPct val="100000"/>
              <a:buChar char="•"/>
            </a:pPr>
            <a:r>
              <a:rPr lang="en-US" sz="1700" dirty="0">
                <a:solidFill>
                  <a:srgbClr val="3A4756"/>
                </a:solidFill>
                <a:latin typeface="Assistant" pitchFamily="34" charset="0"/>
                <a:ea typeface="Assistant" pitchFamily="34" charset="-122"/>
                <a:cs typeface="Assistant" pitchFamily="34" charset="-120"/>
              </a:rPr>
              <a:t>The commercial question is whether these discounts create incremental demand or simply reduce margin on purchases that would have happened anyway.</a:t>
            </a:r>
            <a:endParaRPr lang="en-US" sz="1700" dirty="0"/>
          </a:p>
        </p:txBody>
      </p:sp>
      <p:sp>
        <p:nvSpPr>
          <p:cNvPr id="6" name="Text 4"/>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0553"/>
            <a:ext cx="11582110" cy="205680"/>
          </a:xfrm>
          <a:prstGeom prst="rect">
            <a:avLst/>
          </a:prstGeom>
          <a:noFill/>
          <a:ln/>
        </p:spPr>
        <p:txBody>
          <a:bodyPr wrap="none" lIns="0" tIns="0" rIns="0" bIns="0" rtlCol="0" anchor="t"/>
          <a:lstStyle/>
          <a:p>
            <a:pPr algn="l" indent="0" marL="0">
              <a:lnSpc>
                <a:spcPct val="113000"/>
              </a:lnSpc>
              <a:buNone/>
            </a:pPr>
            <a:r>
              <a:rPr lang="en-US" sz="1200" dirty="0">
                <a:solidFill>
                  <a:srgbClr val="536270"/>
                </a:solidFill>
                <a:latin typeface="Assistant SemiBold" pitchFamily="34" charset="0"/>
                <a:ea typeface="Assistant SemiBold" pitchFamily="34" charset="-122"/>
                <a:cs typeface="Assistant SemiBold" pitchFamily="34" charset="-120"/>
              </a:rPr>
              <a:t>SATISFACTION VS VELOCITY</a:t>
            </a:r>
            <a:endParaRPr lang="en-US" sz="1200" dirty="0"/>
          </a:p>
        </p:txBody>
      </p:sp>
      <p:sp>
        <p:nvSpPr>
          <p:cNvPr id="3" name="Text 1"/>
          <p:cNvSpPr/>
          <p:nvPr/>
        </p:nvSpPr>
        <p:spPr>
          <a:xfrm>
            <a:off x="609585" y="910624"/>
            <a:ext cx="10972526" cy="934641"/>
          </a:xfrm>
          <a:prstGeom prst="rect">
            <a:avLst/>
          </a:prstGeom>
          <a:noFill/>
          <a:ln/>
        </p:spPr>
        <p:txBody>
          <a:bodyPr wrap="square" lIns="0" tIns="0" rIns="0" bIns="0" rtlCol="0" anchor="t">
            <a:normAutofit/>
          </a:bodyPr>
          <a:lstStyle/>
          <a:p>
            <a:pPr algn="l" indent="0" marL="0">
              <a:lnSpc>
                <a:spcPct val="96000"/>
              </a:lnSpc>
              <a:buNone/>
            </a:pPr>
            <a:r>
              <a:rPr lang="en-US" sz="3200" dirty="0">
                <a:solidFill>
                  <a:srgbClr val="1B2632"/>
                </a:solidFill>
                <a:latin typeface="Rubik SemiBold" pitchFamily="34" charset="0"/>
                <a:ea typeface="Rubik SemiBold" pitchFamily="34" charset="-122"/>
                <a:cs typeface="Rubik SemiBold" pitchFamily="34" charset="-120"/>
              </a:rPr>
              <a:t>Product ratings and category demand reveal different kinds of winners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2051546"/>
          <a:ext cx="10972526" cy="914400"/>
        </p:xfrm>
        <a:graphic>
          <a:graphicData uri="http://schemas.openxmlformats.org/drawingml/2006/table">
            <a:tbl>
              <a:tblPr/>
              <a:tblGrid>
                <a:gridCol w="2633398"/>
                <a:gridCol w="8339127"/>
              </a:tblGrid>
              <a:tr h="453319">
                <a:tc>
                  <a:txBody>
                    <a:bodyPr/>
                    <a:lstStyle/>
                    <a:p>
                      <a:pPr algn="l" indent="0" marL="0">
                        <a:buNone/>
                      </a:pPr>
                      <a:r>
                        <a:rPr lang="en-US" sz="1200" dirty="0">
                          <a:solidFill>
                            <a:srgbClr val="1B2632"/>
                          </a:solidFill>
                          <a:latin typeface="Assistant" pitchFamily="34" charset="0"/>
                          <a:ea typeface="Assistant" pitchFamily="34" charset="-122"/>
                          <a:cs typeface="Assistant" pitchFamily="34" charset="-120"/>
                        </a:rPr>
                        <a:t>Measure</a:t>
                      </a:r>
                      <a:endParaRPr lang="en-US" sz="120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200" dirty="0">
                          <a:solidFill>
                            <a:srgbClr val="1B2632"/>
                          </a:solidFill>
                          <a:latin typeface="Assistant" pitchFamily="34" charset="0"/>
                          <a:ea typeface="Assistant" pitchFamily="34" charset="-122"/>
                          <a:cs typeface="Assistant" pitchFamily="34" charset="-120"/>
                        </a:rPr>
                        <a:t>Products</a:t>
                      </a:r>
                      <a:endParaRPr lang="en-US" sz="120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511162">
                <a:tc>
                  <a:txBody>
                    <a:bodyPr/>
                    <a:lstStyle/>
                    <a:p>
                      <a:pPr algn="l" indent="0" marL="0">
                        <a:buNone/>
                      </a:pPr>
                      <a:r>
                        <a:rPr lang="en-US" sz="1450" b="1" dirty="0">
                          <a:solidFill>
                            <a:srgbClr val="3A4756"/>
                          </a:solidFill>
                          <a:latin typeface="Assistant" pitchFamily="34" charset="0"/>
                          <a:ea typeface="Assistant" pitchFamily="34" charset="-122"/>
                          <a:cs typeface="Assistant" pitchFamily="34" charset="-120"/>
                        </a:rPr>
                        <a:t>Top-rated products</a:t>
                      </a:r>
                      <a:endParaRPr lang="en-US" sz="145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450" dirty="0">
                          <a:solidFill>
                            <a:srgbClr val="3A4756"/>
                          </a:solidFill>
                          <a:latin typeface="Assistant" pitchFamily="34" charset="0"/>
                          <a:ea typeface="Assistant" pitchFamily="34" charset="-122"/>
                          <a:cs typeface="Assistant" pitchFamily="34" charset="-120"/>
                        </a:rPr>
                        <a:t>Gloves 3.86, Sandals 3.84, Boots 3.82, Hat 3.80, and Skirt 3.78</a:t>
                      </a:r>
                      <a:endParaRPr lang="en-US" sz="145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504812">
                <a:tc>
                  <a:txBody>
                    <a:bodyPr/>
                    <a:lstStyle/>
                    <a:p>
                      <a:pPr algn="l" indent="0" marL="0">
                        <a:buNone/>
                      </a:pPr>
                      <a:r>
                        <a:rPr lang="en-US" sz="1450" b="1" dirty="0">
                          <a:solidFill>
                            <a:srgbClr val="3A4756"/>
                          </a:solidFill>
                          <a:latin typeface="Assistant" pitchFamily="34" charset="0"/>
                          <a:ea typeface="Assistant" pitchFamily="34" charset="-122"/>
                          <a:cs typeface="Assistant" pitchFamily="34" charset="-120"/>
                        </a:rPr>
                        <a:t>Top products by category</a:t>
                      </a:r>
                      <a:endParaRPr lang="en-US" sz="145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c>
                  <a:txBody>
                    <a:bodyPr/>
                    <a:lstStyle/>
                    <a:p>
                      <a:pPr algn="l" indent="0" marL="0">
                        <a:buNone/>
                      </a:pPr>
                      <a:r>
                        <a:rPr lang="en-US" sz="1450" dirty="0">
                          <a:solidFill>
                            <a:srgbClr val="3A4756"/>
                          </a:solidFill>
                          <a:latin typeface="Assistant" pitchFamily="34" charset="0"/>
                          <a:ea typeface="Assistant" pitchFamily="34" charset="-122"/>
                          <a:cs typeface="Assistant" pitchFamily="34" charset="-120"/>
                        </a:rPr>
                        <a:t>Jewelry, Sunglasses, Belt, Blouse, Pants, Shirt, Sandals, Shoes, Sneakers, Jacket, and Coat</a:t>
                      </a:r>
                      <a:endParaRPr lang="en-US" sz="1450" dirty="0">
                        <a:latin typeface="Assistant" charset="0"/>
                        <a:ea typeface="Assistant" charset="0"/>
                        <a:cs typeface="Assistant" charset="0"/>
                      </a:endParaRPr>
                    </a:p>
                  </a:txBody>
                  <a:tcPr marL="126997" marR="126997" marT="114297" marB="114297"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r>
            </a:tbl>
          </a:graphicData>
        </a:graphic>
      </p:graphicFrame>
      <p:sp>
        <p:nvSpPr>
          <p:cNvPr id="5" name="Text 2"/>
          <p:cNvSpPr/>
          <p:nvPr/>
        </p:nvSpPr>
        <p:spPr>
          <a:xfrm>
            <a:off x="609585" y="3714552"/>
            <a:ext cx="11582110" cy="323850"/>
          </a:xfrm>
          <a:prstGeom prst="rect">
            <a:avLst/>
          </a:prstGeom>
          <a:noFill/>
          <a:ln/>
        </p:spPr>
        <p:txBody>
          <a:bodyPr wrap="none" lIns="0" tIns="0" rIns="0" bIns="0" rtlCol="0" anchor="t"/>
          <a:lstStyle/>
          <a:p>
            <a:pPr algn="l" indent="0" marL="0">
              <a:lnSpc>
                <a:spcPct val="125000"/>
              </a:lnSpc>
              <a:buNone/>
            </a:pPr>
            <a:r>
              <a:rPr lang="en-US" sz="1700" dirty="0">
                <a:solidFill>
                  <a:srgbClr val="3A4756"/>
                </a:solidFill>
                <a:latin typeface="Assistant" pitchFamily="34" charset="0"/>
                <a:ea typeface="Assistant" pitchFamily="34" charset="-122"/>
                <a:cs typeface="Assistant" pitchFamily="34" charset="-120"/>
              </a:rPr>
              <a:t>Ratings can guide positioning and advocacy, while order volume should guide inventory and campaign scale.</a:t>
            </a:r>
            <a:endParaRPr lang="en-US" sz="1700" dirty="0"/>
          </a:p>
        </p:txBody>
      </p:sp>
      <p:sp>
        <p:nvSpPr>
          <p:cNvPr id="6" name="Text 3"/>
          <p:cNvSpPr/>
          <p:nvPr/>
        </p:nvSpPr>
        <p:spPr>
          <a:xfrm>
            <a:off x="11843247" y="6448425"/>
            <a:ext cx="348448"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1866"/>
            <a:ext cx="11582110" cy="181471"/>
          </a:xfrm>
          <a:prstGeom prst="rect">
            <a:avLst/>
          </a:prstGeom>
          <a:noFill/>
          <a:ln/>
        </p:spPr>
        <p:txBody>
          <a:bodyPr wrap="none" lIns="0" tIns="0" rIns="0" bIns="0" rtlCol="0" anchor="t"/>
          <a:lstStyle/>
          <a:p>
            <a:pPr algn="l" indent="0" marL="0">
              <a:lnSpc>
                <a:spcPct val="112000"/>
              </a:lnSpc>
              <a:buNone/>
            </a:pPr>
            <a:r>
              <a:rPr lang="en-US" sz="1050" dirty="0">
                <a:solidFill>
                  <a:srgbClr val="536270"/>
                </a:solidFill>
                <a:latin typeface="Assistant SemiBold" pitchFamily="34" charset="0"/>
                <a:ea typeface="Assistant SemiBold" pitchFamily="34" charset="-122"/>
                <a:cs typeface="Assistant SemiBold" pitchFamily="34" charset="-120"/>
              </a:rPr>
              <a:t>POWER BI DASHBOARD &amp; RECOMMENDATIONS</a:t>
            </a:r>
            <a:endParaRPr lang="en-US" sz="1050" dirty="0"/>
          </a:p>
        </p:txBody>
      </p:sp>
      <p:sp>
        <p:nvSpPr>
          <p:cNvPr id="3" name="Text 1"/>
          <p:cNvSpPr/>
          <p:nvPr/>
        </p:nvSpPr>
        <p:spPr>
          <a:xfrm>
            <a:off x="609585" y="863366"/>
            <a:ext cx="10972526" cy="824111"/>
          </a:xfrm>
          <a:prstGeom prst="rect">
            <a:avLst/>
          </a:prstGeom>
          <a:noFill/>
          <a:ln/>
        </p:spPr>
        <p:txBody>
          <a:bodyPr wrap="square" lIns="0" tIns="0" rIns="0" bIns="0" rtlCol="0" anchor="t">
            <a:normAutofit/>
          </a:bodyPr>
          <a:lstStyle/>
          <a:p>
            <a:pPr algn="l" indent="0" marL="0">
              <a:lnSpc>
                <a:spcPct val="96000"/>
              </a:lnSpc>
              <a:buNone/>
            </a:pPr>
            <a:r>
              <a:rPr lang="en-US" sz="2800" dirty="0">
                <a:solidFill>
                  <a:srgbClr val="1B2632"/>
                </a:solidFill>
                <a:latin typeface="Rubik SemiBold" pitchFamily="34" charset="0"/>
                <a:ea typeface="Rubik SemiBold" pitchFamily="34" charset="-122"/>
                <a:cs typeface="Rubik SemiBold" pitchFamily="34" charset="-120"/>
              </a:rPr>
              <a:t>Clothing leads the dashboard, so the next step is segment-specific action</a:t>
            </a:r>
            <a:endParaRPr lang="en-US" sz="2800" dirty="0"/>
          </a:p>
        </p:txBody>
      </p:sp>
      <p:pic>
        <p:nvPicPr>
          <p:cNvPr id="4" name="Image 0" descr="preencoded.png">    </p:cNvPr>
          <p:cNvPicPr>
            <a:picLocks noChangeAspect="1"/>
          </p:cNvPicPr>
          <p:nvPr/>
        </p:nvPicPr>
        <p:blipFill>
          <a:blip r:embed="rId1"/>
          <a:stretch>
            <a:fillRect/>
          </a:stretch>
        </p:blipFill>
        <p:spPr>
          <a:xfrm>
            <a:off x="609585" y="2354262"/>
            <a:ext cx="6222844" cy="3556000"/>
          </a:xfrm>
          <a:prstGeom prst="rect">
            <a:avLst/>
          </a:prstGeom>
        </p:spPr>
      </p:pic>
      <p:sp>
        <p:nvSpPr>
          <p:cNvPr id="5" name="Text 2"/>
          <p:cNvSpPr/>
          <p:nvPr/>
        </p:nvSpPr>
        <p:spPr>
          <a:xfrm>
            <a:off x="609585" y="6056427"/>
            <a:ext cx="6222844" cy="303907"/>
          </a:xfrm>
          <a:prstGeom prst="rect">
            <a:avLst/>
          </a:prstGeom>
          <a:noFill/>
          <a:ln/>
        </p:spPr>
        <p:txBody>
          <a:bodyPr wrap="square" lIns="0" tIns="101598" rIns="0" bIns="0" rtlCol="0" anchor="t">
            <a:normAutofit/>
          </a:bodyPr>
          <a:lstStyle/>
          <a:p>
            <a:pPr algn="l" indent="0" marL="0">
              <a:lnSpc>
                <a:spcPct val="117000"/>
              </a:lnSpc>
              <a:buNone/>
            </a:pPr>
            <a:r>
              <a:rPr lang="en-US" sz="1100" dirty="0">
                <a:solidFill>
                  <a:srgbClr val="536270"/>
                </a:solidFill>
                <a:latin typeface="Assistant" pitchFamily="34" charset="0"/>
                <a:ea typeface="Assistant" pitchFamily="34" charset="-122"/>
                <a:cs typeface="Assistant" pitchFamily="34" charset="-120"/>
              </a:rPr>
              <a:t>Revenue by age group: Young Adult $62,143; Middle-aged $59,197; Adult $55,978; Senior $55,763.</a:t>
            </a:r>
            <a:endParaRPr lang="en-US" sz="1100" dirty="0"/>
          </a:p>
        </p:txBody>
      </p:sp>
      <p:sp>
        <p:nvSpPr>
          <p:cNvPr id="6" name="Shape 3"/>
          <p:cNvSpPr/>
          <p:nvPr/>
        </p:nvSpPr>
        <p:spPr>
          <a:xfrm>
            <a:off x="7137221" y="1849636"/>
            <a:ext cx="4444889" cy="5011936"/>
          </a:xfrm>
          <a:prstGeom prst="rect">
            <a:avLst/>
          </a:prstGeom>
          <a:solidFill>
            <a:srgbClr val="E4EAEF"/>
          </a:solidFill>
          <a:ln/>
        </p:spPr>
      </p:sp>
      <p:sp>
        <p:nvSpPr>
          <p:cNvPr id="7" name="Text 4"/>
          <p:cNvSpPr/>
          <p:nvPr/>
        </p:nvSpPr>
        <p:spPr>
          <a:xfrm>
            <a:off x="7365816" y="1997840"/>
            <a:ext cx="3987700" cy="492720"/>
          </a:xfrm>
          <a:prstGeom prst="rect">
            <a:avLst/>
          </a:prstGeom>
          <a:noFill/>
          <a:ln/>
        </p:spPr>
        <p:txBody>
          <a:bodyPr wrap="none" lIns="0" tIns="0" rIns="0" bIns="0" rtlCol="0" anchor="t"/>
          <a:lstStyle/>
          <a:p>
            <a:pPr algn="l" indent="0" marL="0">
              <a:lnSpc>
                <a:spcPct val="92000"/>
              </a:lnSpc>
              <a:buNone/>
            </a:pPr>
            <a:r>
              <a:rPr lang="en-US" sz="3550" dirty="0">
                <a:solidFill>
                  <a:srgbClr val="0E7C86"/>
                </a:solidFill>
                <a:latin typeface="Rubik SemiBold" pitchFamily="34" charset="0"/>
                <a:ea typeface="Rubik SemiBold" pitchFamily="34" charset="-122"/>
                <a:cs typeface="Rubik SemiBold" pitchFamily="34" charset="-120"/>
              </a:rPr>
              <a:t>$104K</a:t>
            </a:r>
            <a:endParaRPr lang="en-US" sz="3550" dirty="0"/>
          </a:p>
        </p:txBody>
      </p:sp>
      <p:sp>
        <p:nvSpPr>
          <p:cNvPr id="8" name="Text 5"/>
          <p:cNvSpPr/>
          <p:nvPr/>
        </p:nvSpPr>
        <p:spPr>
          <a:xfrm>
            <a:off x="7365816" y="2640623"/>
            <a:ext cx="3987700" cy="391914"/>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A4756"/>
                </a:solidFill>
                <a:latin typeface="Assistant" pitchFamily="34" charset="0"/>
                <a:ea typeface="Assistant" pitchFamily="34" charset="-122"/>
                <a:cs typeface="Assistant" pitchFamily="34" charset="-120"/>
              </a:rPr>
              <a:t>Power BI dashboard: 3.9K customers, $59.76 average purchase, 3.75 average rating; clothing revenue from 1,737 sales</a:t>
            </a:r>
            <a:endParaRPr lang="en-US" sz="1100" dirty="0"/>
          </a:p>
        </p:txBody>
      </p:sp>
      <p:sp>
        <p:nvSpPr>
          <p:cNvPr id="9" name="Shape 6"/>
          <p:cNvSpPr/>
          <p:nvPr/>
        </p:nvSpPr>
        <p:spPr>
          <a:xfrm>
            <a:off x="7365816" y="3175397"/>
            <a:ext cx="3987700" cy="38100"/>
          </a:xfrm>
          <a:prstGeom prst="roundRect">
            <a:avLst>
              <a:gd name="adj" fmla="val 49999"/>
            </a:avLst>
          </a:prstGeom>
          <a:solidFill>
            <a:srgbClr val="A7B3BE"/>
          </a:solidFill>
          <a:ln/>
        </p:spPr>
      </p:sp>
      <p:sp>
        <p:nvSpPr>
          <p:cNvPr id="10" name="Text 7"/>
          <p:cNvSpPr/>
          <p:nvPr/>
        </p:nvSpPr>
        <p:spPr>
          <a:xfrm>
            <a:off x="7365816" y="3428798"/>
            <a:ext cx="3987700" cy="221754"/>
          </a:xfrm>
          <a:prstGeom prst="rect">
            <a:avLst/>
          </a:prstGeom>
          <a:noFill/>
          <a:ln/>
        </p:spPr>
        <p:txBody>
          <a:bodyPr wrap="none" lIns="0" tIns="0" rIns="0" bIns="0" rtlCol="0" anchor="t"/>
          <a:lstStyle/>
          <a:p>
            <a:pPr algn="l" indent="0" marL="0">
              <a:lnSpc>
                <a:spcPct val="92000"/>
              </a:lnSpc>
              <a:buNone/>
            </a:pPr>
            <a:r>
              <a:rPr lang="en-US" sz="1600" dirty="0">
                <a:solidFill>
                  <a:srgbClr val="3A4756"/>
                </a:solidFill>
                <a:latin typeface="Assistant" pitchFamily="34" charset="0"/>
                <a:ea typeface="Assistant" pitchFamily="34" charset="-122"/>
                <a:cs typeface="Assistant" pitchFamily="34" charset="-120"/>
              </a:rPr>
              <a:t>Recommendations</a:t>
            </a:r>
            <a:endParaRPr lang="en-US" sz="1600" dirty="0"/>
          </a:p>
        </p:txBody>
      </p:sp>
      <p:sp>
        <p:nvSpPr>
          <p:cNvPr id="11" name="Text 8"/>
          <p:cNvSpPr/>
          <p:nvPr/>
        </p:nvSpPr>
        <p:spPr>
          <a:xfrm>
            <a:off x="7365816" y="3754338"/>
            <a:ext cx="3987700" cy="1964730"/>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3A4756"/>
                </a:solidFill>
                <a:latin typeface="Assistant" pitchFamily="34" charset="0"/>
                <a:ea typeface="Assistant" pitchFamily="34" charset="-122"/>
                <a:cs typeface="Assistant" pitchFamily="34" charset="-120"/>
              </a:rPr>
              <a:t>Aim discounts at discount-dependent products, not broadly.</a:t>
            </a:r>
            <a:endParaRPr lang="en-US" sz="1500" dirty="0"/>
          </a:p>
          <a:p>
            <a:pPr algn="l" marL="304800" indent="-304800">
              <a:lnSpc>
                <a:spcPct val="118000"/>
              </a:lnSpc>
              <a:buSzPct val="100000"/>
              <a:buChar char="•"/>
            </a:pPr>
            <a:r>
              <a:rPr lang="en-US" sz="1500" dirty="0">
                <a:solidFill>
                  <a:srgbClr val="3A4756"/>
                </a:solidFill>
                <a:latin typeface="Assistant" pitchFamily="34" charset="0"/>
                <a:ea typeface="Assistant" pitchFamily="34" charset="-122"/>
                <a:cs typeface="Assistant" pitchFamily="34" charset="-120"/>
              </a:rPr>
              <a:t>Use ratings for advocacy and order volume for inventory and campaign scale.</a:t>
            </a:r>
            <a:endParaRPr lang="en-US" sz="1500" dirty="0"/>
          </a:p>
          <a:p>
            <a:pPr algn="l" marL="304800" indent="-304800">
              <a:lnSpc>
                <a:spcPct val="118000"/>
              </a:lnSpc>
              <a:buSzPct val="100000"/>
              <a:buChar char="•"/>
            </a:pPr>
            <a:r>
              <a:rPr lang="en-US" sz="1500" dirty="0">
                <a:solidFill>
                  <a:srgbClr val="3A4756"/>
                </a:solidFill>
                <a:latin typeface="Assistant" pitchFamily="34" charset="0"/>
                <a:ea typeface="Assistant" pitchFamily="34" charset="-122"/>
                <a:cs typeface="Assistant" pitchFamily="34" charset="-120"/>
              </a:rPr>
              <a:t>Turn single-purchase shoppers into subscribers and repeat buyers through a loyalty offer test.</a:t>
            </a:r>
            <a:endParaRPr lang="en-US" sz="1500" dirty="0"/>
          </a:p>
        </p:txBody>
      </p:sp>
      <p:sp>
        <p:nvSpPr>
          <p:cNvPr id="12" name="Text 9"/>
          <p:cNvSpPr/>
          <p:nvPr/>
        </p:nvSpPr>
        <p:spPr>
          <a:xfrm>
            <a:off x="7365816" y="5817791"/>
            <a:ext cx="3987700" cy="916781"/>
          </a:xfrm>
          <a:prstGeom prst="rect">
            <a:avLst/>
          </a:prstGeom>
          <a:noFill/>
          <a:ln/>
        </p:spPr>
        <p:txBody>
          <a:bodyPr wrap="square" lIns="0" tIns="0" rIns="0" bIns="0" rtlCol="0" anchor="t">
            <a:normAutofit/>
          </a:bodyPr>
          <a:lstStyle/>
          <a:p>
            <a:pPr algn="l" indent="0" marL="0">
              <a:lnSpc>
                <a:spcPct val="118000"/>
              </a:lnSpc>
              <a:buNone/>
            </a:pPr>
            <a:r>
              <a:rPr lang="en-US" sz="1300" dirty="0">
                <a:solidFill>
                  <a:srgbClr val="3A4756"/>
                </a:solidFill>
                <a:latin typeface="Assistant" pitchFamily="34" charset="0"/>
                <a:ea typeface="Assistant" pitchFamily="34" charset="-122"/>
                <a:cs typeface="Assistant" pitchFamily="34" charset="-120"/>
              </a:rPr>
              <a:t>Age-group revenue is tight ($55K–$62K), so segment-specific campaigns beat one-size messaging. Next step: pilot a loyalty offer for single-purchase shoppers and track repeat purchases.</a:t>
            </a:r>
            <a:endParaRPr lang="en-US" sz="1300" dirty="0"/>
          </a:p>
        </p:txBody>
      </p:sp>
      <p:sp>
        <p:nvSpPr>
          <p:cNvPr id="13" name="Text 10"/>
          <p:cNvSpPr/>
          <p:nvPr/>
        </p:nvSpPr>
        <p:spPr>
          <a:xfrm>
            <a:off x="11849002" y="6448425"/>
            <a:ext cx="342693" cy="209550"/>
          </a:xfrm>
          <a:prstGeom prst="rect">
            <a:avLst/>
          </a:prstGeom>
          <a:noFill/>
          <a:ln/>
        </p:spPr>
        <p:txBody>
          <a:bodyPr wrap="none" lIns="0" tIns="0" rIns="0" bIns="0" rtlCol="0" anchor="ctr"/>
          <a:lstStyle/>
          <a:p>
            <a:pPr algn="l" indent="0" marL="0">
              <a:lnSpc>
                <a:spcPct val="125000"/>
              </a:lnSpc>
              <a:buNone/>
            </a:pPr>
            <a:r>
              <a:rPr lang="en-US" sz="1100" spc="44" kern="100" dirty="0">
                <a:solidFill>
                  <a:srgbClr val="536270"/>
                </a:solidFill>
                <a:latin typeface="Assistant" pitchFamily="34" charset="0"/>
                <a:ea typeface="Assistant" pitchFamily="34" charset="-122"/>
                <a:cs typeface="Assistant" pitchFamily="34" charset="-120"/>
              </a:rPr>
              <a:t>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2026-10-19T10:47:51Z</dcterms:created>
  <dcterms:modified xsi:type="dcterms:W3CDTF">2026-10-19T10:47:51Z</dcterms:modified>
</cp:coreProperties>
</file>